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SAY:  Good morning. For our project, we built a tool that looks at a chest X-ray and predicts which of 14 different chest conditions might be present, things like pneumonia, fluid around the lungs, or an enlarged heart. We used a large public collection of real chest X-rays called NIH ChestX-ray14. Over the next few minutes we'll show you the data, how the model works, how well it does, and then we'll run it live. I'm [name] and this is [name].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[0:15-1:15]  SAY:  Here's the problem we set out to solve. You give the model one chest X-ray, and it gives back a yes or no for each of 14 conditions. The important part is that a single X-ray can have more than one thing wrong with it at the same time, so the model isn't picking just one answer, it's judging all 14 at once. The full dataset is huge: about 112,000 X-rays from around 30,000 patients, each labeled for these 14 conditions. We didn't use all of it. We used about 25,000 images, split into a training set, a validation set, and a test set, so the whole project runs on a normal laptop. On the screen are a few real examples with their actual labels, so you can see what the model is working with.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[1:15-2:15]  SAY:  Now the catch, and this is the most important idea in our whole project. The data is very lopsided. About half of all the X-rays are completely normal, and several of the conditions are quite rare. So imagine a lazy model that just says 'nothing is wrong' on every single image. Because most images really are normal, that model would be right about 95 percent of the time. Ninety-five percent sounds great, but it caught zero actual disease, so it's useless. That's why, for the rest of this talk, we don't judge our model on accuracy. We use two better measures instead: AUC, which is how well the model separates sick patients from healthy ones, and recall, which is how much of the real disease it actually catches.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[2:15-3:00]  SAY:  Before building anything, we looked closely at the data and found two things worth sharing. First, this heat map shows that the conditions often appear together on the same X-ray. The brighter squares are the pairs that show up together a lot, for example fluid around the lung often comes with infiltration. This matters because it means the 14 conditions aren't separate, independent things, which is another reason a single accuracy score doesn't fit here. Second, we looked at who's actually in the data. Most of the patients are middle-aged adults, the median age is about 49, and there are a few more men than women. We point this out because a model only really learns the kind of patients it was trained on, so that's something to keep in mind before trusting it on a different group.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[3:00-3:45]  SAY:  Here's how the model actually works. Training an image model completely from scratch needs a massive amount of data and a powerful graphics card, which we didn't have. So instead, we borrowed a network called EfficientNet that was already trained on millions of everyday photos. It already knows how to pick out edges, shapes, and textures. We freeze it, meaning we don't change it at all, and just use it to turn each X-ray into a list of 1,280 numbers. Then we train small, simple models on those numbers to predict the 14 conditions. Following the arrows: the X-ray goes in, the pretrained network turns it into numbers, and our model turns those numbers into a probability for each condition. This is called transfer learning, and it's what let us do this without a fancy GPU.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[3:45-4:45]  SAY:  We didn't just build one model and hope for the best. We tried several different models on exactly the same data and compared them fairly. The bar at the very bottom is a baseline that's basically guessing, it sits at 0.50. Our neural network came out on top, at about 0.73, and that's the one we kept. One thing worth pointing out: the random forest looked almost as good on this chart, but it had basically memorized the training data, it scored perfectly on data it had already seen and much worse on new data, and it almost never actually flags a condition, so it would miss real cases. That's a great example of why a high score on this chart isn't the whole story, and why we also care about recall, which is catching real disease.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[4:45-5:30]  SAY:  This slide is really the heart of the deep-learning side. We tried three different deep-learning approaches, and the numbers tell a clean story. A network built completely from scratch only reached 0.64, because with our limited data it just can't learn good features on its own. When we reused the pretrained network instead, that's transfer learning, the score jumped to 0.73, and that's the big win. And when we fine-tuned, letting the network adjust just a little to chest X-rays specifically, it went up a bit more to 0.74. So the takeaway is simple: when you don't have a ton of data, standing on a network that's already been trained beats building one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[5:30-6:30]  SAY:  So how good is our chosen model? On X-rays it had never seen before, it gets about 74 percent accuracy and an AUC of 0.73. Just as important, the scores on the training data and on new data are close together, 0.84 versus 0.73 on AUC, which tells us the model is genuinely learning the patterns rather than just memorizing examples. On the right is what's called a confusion matrix. I won't go through every box, but the strong line down the diagonal is where the model got it right, and the cells off that line are the mix-ups, usually between conditions that look alike on an X-ray. With that, let's actually see it in action.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[6:30-9:00]  (have the app already open before this slide)  SAY as you click through:  This is the live demo. Let me pick a chest X-ray. Here you can see the model's probability for each of the 14 conditions, and over here it flags the ones it thinks are present. You might notice the flagged condition isn't always the one with the highest number, and that's on purpose: instead of one fixed cutoff, each condition has its own threshold that we tuned to favor catching disease. Now here's the interesting part. This heat map, called Grad-CAM, shows where the model was actually looking when it made its decision. You can see it's focused on the lungs, not the background, which gives us some confidence it's reasoning sensibly. Let me show you one the model gets right, and then one it gets wrong, so you can see both.  (If the live app won't run, the two heat maps on this slide are your backup.)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[9:00-9:45]  SAY:  The app doesn't just make a prediction and forget it. Every single time it classifies an X-ray, it saves a record: the image, the top prediction, all 14 probabilities, and how many conditions were flagged. This Monitoring tab reads all those records and gives a big-picture view: how often each condition gets flagged, how confident the model tends to be, the most recent cases, and any thumbs-up or thumbs-down feedback that users gave. The reason this matters is that a single prediction is just a demo, but keeping a log is what lets you actually watch how the model behaves over time in real use. And because it's just a spreadsheet file, that same data could feed a business tool like Power BI.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[9:45-10:45]  SAY:  A few things we learned. On what worked: telling the model to pay extra attention to the rare conditions instead of ignoring them, preparing the images exactly the way the network expects, judging the model on AUC and recall instead of accuracy, and using the heat maps to confirm it looks at the lungs and not the background. We also want to be honest about the limits. The labels in this dataset were pulled automatically from doctors' reports and are only about 90 percent accurate, so some of them are simply wrong, which caps how good any model can look. We also tried a stricter test where no patient appears in both training and testing, and the score dropped from 0.73 to 0.67, so our main number is a little optimistic. For comparison, the best published model in this area scores between 0.7 and 0.85, but it uses all 112,000 images and a powerful GPU. Ours is a much lighter, laptop-friendly version, and it lands in the same ballpark.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[10:45-11:00]  SAY:  So to sum up: we built a tool that predicts 14 chest conditions from an X-ray using transfer learning, we measured it honestly with AUC and recall instead of accuracy, and we wrapped it in a working app that explains its reasoning and tracks its own usage. Thank you for listening, and we're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495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20240"/>
            <a:ext cx="10332720" cy="1828800"/>
          </a:xfrm>
          <a:prstGeom prst="rect">
            <a:avLst/>
          </a:prstGeom>
          <a:noFill/>
        </p:spPr>
        <p:txBody>
          <a:bodyPr wrap="square" anchor="t" lIns="0" rIns="0" tIns="0" bIns="0">
            <a:spAutoFit/>
          </a:bodyPr>
          <a:lstStyle/>
          <a:p>
            <a:pPr algn="l">
              <a:lnSpc>
                <a:spcPct val="100000"/>
              </a:lnSpc>
              <a:spcAft>
                <a:spcPts val="400"/>
              </a:spcAft>
            </a:pPr>
            <a:r>
              <a:rPr sz="4600" b="1">
                <a:solidFill>
                  <a:srgbClr val="FFFFFF"/>
                </a:solidFill>
                <a:latin typeface="Calibri"/>
              </a:rPr>
              <a:t>Detecting Chest Conditions</a:t>
            </a:r>
          </a:p>
          <a:p>
            <a:pPr algn="l">
              <a:lnSpc>
                <a:spcPct val="100000"/>
              </a:lnSpc>
              <a:spcAft>
                <a:spcPts val="400"/>
              </a:spcAft>
            </a:pPr>
            <a:r>
              <a:rPr sz="4600" b="1">
                <a:solidFill>
                  <a:srgbClr val="FFFFFF"/>
                </a:solidFill>
                <a:latin typeface="Calibri"/>
              </a:rPr>
              <a:t>from X-rays</a:t>
            </a:r>
          </a:p>
        </p:txBody>
      </p:sp>
      <p:sp>
        <p:nvSpPr>
          <p:cNvPr id="4" name="Rectangle 3"/>
          <p:cNvSpPr/>
          <p:nvPr/>
        </p:nvSpPr>
        <p:spPr>
          <a:xfrm>
            <a:off x="960120" y="3703320"/>
            <a:ext cx="2011680" cy="73152"/>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931920"/>
            <a:ext cx="10332720" cy="914400"/>
          </a:xfrm>
          <a:prstGeom prst="rect">
            <a:avLst/>
          </a:prstGeom>
          <a:noFill/>
        </p:spPr>
        <p:txBody>
          <a:bodyPr wrap="square" anchor="t" lIns="0" rIns="0" tIns="0" bIns="0">
            <a:spAutoFit/>
          </a:bodyPr>
          <a:lstStyle/>
          <a:p>
            <a:pPr algn="l">
              <a:lnSpc>
                <a:spcPct val="100000"/>
              </a:lnSpc>
              <a:spcAft>
                <a:spcPts val="400"/>
              </a:spcAft>
            </a:pPr>
            <a:r>
              <a:rPr sz="1900" b="0">
                <a:solidFill>
                  <a:srgbClr val="CFE0E4"/>
                </a:solidFill>
                <a:latin typeface="Calibri"/>
              </a:rPr>
              <a:t>Predicting 14 conditions from a chest X-ray with deep learning</a:t>
            </a:r>
          </a:p>
        </p:txBody>
      </p:sp>
      <p:sp>
        <p:nvSpPr>
          <p:cNvPr id="6" name="TextBox 5"/>
          <p:cNvSpPr txBox="1"/>
          <p:nvPr/>
        </p:nvSpPr>
        <p:spPr>
          <a:xfrm>
            <a:off x="914400" y="5760720"/>
            <a:ext cx="10332720" cy="822960"/>
          </a:xfrm>
          <a:prstGeom prst="rect">
            <a:avLst/>
          </a:prstGeom>
          <a:noFill/>
        </p:spPr>
        <p:txBody>
          <a:bodyPr wrap="square" anchor="t" lIns="0" rIns="0" tIns="0" bIns="0">
            <a:spAutoFit/>
          </a:bodyPr>
          <a:lstStyle/>
          <a:p>
            <a:pPr algn="l">
              <a:lnSpc>
                <a:spcPct val="100000"/>
              </a:lnSpc>
              <a:spcAft>
                <a:spcPts val="400"/>
              </a:spcAft>
            </a:pPr>
            <a:r>
              <a:rPr sz="1400" b="1">
                <a:solidFill>
                  <a:srgbClr val="FFFFFF"/>
                </a:solidFill>
                <a:latin typeface="Calibri"/>
              </a:rPr>
              <a:t>MSBA 645 Final Project</a:t>
            </a:r>
          </a:p>
          <a:p>
            <a:pPr algn="l">
              <a:lnSpc>
                <a:spcPct val="100000"/>
              </a:lnSpc>
              <a:spcAft>
                <a:spcPts val="400"/>
              </a:spcAft>
            </a:pPr>
            <a:r>
              <a:rPr sz="1300" b="0">
                <a:solidFill>
                  <a:srgbClr val="CFE0E4"/>
                </a:solidFill>
                <a:latin typeface="Calibri"/>
              </a:rPr>
              <a:t>Team: [add names here]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40080"/>
          </a:xfrm>
          <a:prstGeom prst="rect">
            <a:avLst/>
          </a:prstGeom>
          <a:noFill/>
        </p:spPr>
        <p:txBody>
          <a:bodyPr wrap="square" anchor="ctr" lIns="0" rIns="0" tIns="0" bIns="0">
            <a:spAutoFit/>
          </a:bodyPr>
          <a:lstStyle/>
          <a:p>
            <a:pPr algn="l">
              <a:lnSpc>
                <a:spcPct val="100000"/>
              </a:lnSpc>
              <a:spcAft>
                <a:spcPts val="400"/>
              </a:spcAft>
            </a:pPr>
            <a:r>
              <a:rPr sz="2600" b="1">
                <a:solidFill>
                  <a:srgbClr val="10495C"/>
                </a:solidFill>
                <a:latin typeface="Calibri"/>
              </a:rPr>
              <a:t>The problem, and the data</a:t>
            </a:r>
          </a:p>
        </p:txBody>
      </p:sp>
      <p:sp>
        <p:nvSpPr>
          <p:cNvPr id="4" name="Rectangle 3"/>
          <p:cNvSpPr/>
          <p:nvPr/>
        </p:nvSpPr>
        <p:spPr>
          <a:xfrm>
            <a:off x="548640" y="1078992"/>
            <a:ext cx="1051560" cy="64008"/>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97135" y="6455664"/>
            <a:ext cx="1737360" cy="274320"/>
          </a:xfrm>
          <a:prstGeom prst="rect">
            <a:avLst/>
          </a:prstGeom>
          <a:noFill/>
        </p:spPr>
        <p:txBody>
          <a:bodyPr wrap="square" anchor="t" lIns="0" rIns="0" tIns="0" bIns="0">
            <a:spAutoFit/>
          </a:bodyPr>
          <a:lstStyle/>
          <a:p>
            <a:pPr algn="r">
              <a:lnSpc>
                <a:spcPct val="100000"/>
              </a:lnSpc>
              <a:spcAft>
                <a:spcPts val="400"/>
              </a:spcAft>
            </a:pPr>
            <a:r>
              <a:rPr sz="1100" b="0">
                <a:solidFill>
                  <a:srgbClr val="6E7882"/>
                </a:solidFill>
                <a:latin typeface="Calibri"/>
              </a:rPr>
              <a:t>2</a:t>
            </a:r>
          </a:p>
        </p:txBody>
      </p:sp>
      <p:sp>
        <p:nvSpPr>
          <p:cNvPr id="6" name="TextBox 5"/>
          <p:cNvSpPr txBox="1"/>
          <p:nvPr/>
        </p:nvSpPr>
        <p:spPr>
          <a:xfrm>
            <a:off x="548640" y="6455664"/>
            <a:ext cx="7315200" cy="274320"/>
          </a:xfrm>
          <a:prstGeom prst="rect">
            <a:avLst/>
          </a:prstGeom>
          <a:noFill/>
        </p:spPr>
        <p:txBody>
          <a:bodyPr wrap="square" anchor="t" lIns="0" rIns="0" tIns="0" bIns="0">
            <a:spAutoFit/>
          </a:bodyPr>
          <a:lstStyle/>
          <a:p>
            <a:pPr algn="l">
              <a:lnSpc>
                <a:spcPct val="100000"/>
              </a:lnSpc>
              <a:spcAft>
                <a:spcPts val="400"/>
              </a:spcAft>
            </a:pPr>
            <a:r>
              <a:rPr sz="1000" b="0">
                <a:solidFill>
                  <a:srgbClr val="6E7882"/>
                </a:solidFill>
                <a:latin typeface="Calibri"/>
              </a:rPr>
              <a:t>NIH ChestX-ray14  ·  MSBA 645 Final Project</a:t>
            </a:r>
          </a:p>
        </p:txBody>
      </p:sp>
      <p:sp>
        <p:nvSpPr>
          <p:cNvPr id="7" name="TextBox 6"/>
          <p:cNvSpPr txBox="1"/>
          <p:nvPr/>
        </p:nvSpPr>
        <p:spPr>
          <a:xfrm>
            <a:off x="548640" y="1463040"/>
            <a:ext cx="11094415" cy="822960"/>
          </a:xfrm>
          <a:prstGeom prst="rect">
            <a:avLst/>
          </a:prstGeom>
          <a:noFill/>
        </p:spPr>
        <p:txBody>
          <a:bodyPr wrap="square" anchor="t" lIns="0" rIns="0" tIns="0" bIns="0">
            <a:spAutoFit/>
          </a:bodyPr>
          <a:lstStyle/>
          <a:p>
            <a:pPr algn="l">
              <a:lnSpc>
                <a:spcPct val="100000"/>
              </a:lnSpc>
              <a:spcAft>
                <a:spcPts val="400"/>
              </a:spcAft>
            </a:pPr>
            <a:r>
              <a:rPr sz="1650" b="0">
                <a:solidFill>
                  <a:srgbClr val="222A30"/>
                </a:solidFill>
                <a:latin typeface="Calibri"/>
              </a:rPr>
              <a:t>Given one chest X-ray, predict which of 14 conditions are present. An X-ray can have several at once, so the model gives a yes/no for each one.</a:t>
            </a:r>
          </a:p>
        </p:txBody>
      </p:sp>
      <p:sp>
        <p:nvSpPr>
          <p:cNvPr id="8" name="Rounded Rectangle 7"/>
          <p:cNvSpPr/>
          <p:nvPr/>
        </p:nvSpPr>
        <p:spPr>
          <a:xfrm>
            <a:off x="548640" y="2331720"/>
            <a:ext cx="3515258" cy="1051560"/>
          </a:xfrm>
          <a:prstGeom prst="roundRect">
            <a:avLst/>
          </a:prstGeom>
          <a:solidFill>
            <a:srgbClr val="FFFFFF"/>
          </a:solidFill>
          <a:ln w="12700">
            <a:solidFill>
              <a:srgbClr val="DD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31720"/>
            <a:ext cx="3515258" cy="109728"/>
          </a:xfrm>
          <a:prstGeom prst="round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96312"/>
            <a:ext cx="3515258" cy="813815"/>
          </a:xfrm>
          <a:prstGeom prst="rect">
            <a:avLst/>
          </a:prstGeom>
          <a:noFill/>
        </p:spPr>
        <p:txBody>
          <a:bodyPr wrap="square" anchor="ctr" lIns="0" rIns="0" tIns="0" bIns="0">
            <a:spAutoFit/>
          </a:bodyPr>
          <a:lstStyle/>
          <a:p>
            <a:pPr algn="ctr">
              <a:lnSpc>
                <a:spcPct val="100000"/>
              </a:lnSpc>
              <a:spcAft>
                <a:spcPts val="400"/>
              </a:spcAft>
            </a:pPr>
            <a:r>
              <a:rPr sz="2800" b="1">
                <a:solidFill>
                  <a:srgbClr val="10495C"/>
                </a:solidFill>
                <a:latin typeface="Calibri"/>
              </a:rPr>
              <a:t>112,120</a:t>
            </a:r>
          </a:p>
          <a:p>
            <a:pPr algn="ctr">
              <a:lnSpc>
                <a:spcPct val="100000"/>
              </a:lnSpc>
              <a:spcAft>
                <a:spcPts val="400"/>
              </a:spcAft>
            </a:pPr>
            <a:r>
              <a:rPr sz="1250" b="0">
                <a:solidFill>
                  <a:srgbClr val="6E7882"/>
                </a:solidFill>
                <a:latin typeface="Calibri"/>
              </a:rPr>
              <a:t>chest X-rays</a:t>
            </a:r>
          </a:p>
        </p:txBody>
      </p:sp>
      <p:sp>
        <p:nvSpPr>
          <p:cNvPr id="11" name="Rounded Rectangle 10"/>
          <p:cNvSpPr/>
          <p:nvPr/>
        </p:nvSpPr>
        <p:spPr>
          <a:xfrm>
            <a:off x="4338218" y="2331720"/>
            <a:ext cx="3515258" cy="1051560"/>
          </a:xfrm>
          <a:prstGeom prst="roundRect">
            <a:avLst/>
          </a:prstGeom>
          <a:solidFill>
            <a:srgbClr val="FFFFFF"/>
          </a:solidFill>
          <a:ln w="12700">
            <a:solidFill>
              <a:srgbClr val="DD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38218" y="2331720"/>
            <a:ext cx="3515258" cy="109728"/>
          </a:xfrm>
          <a:prstGeom prst="round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38218" y="2496312"/>
            <a:ext cx="3515258" cy="813815"/>
          </a:xfrm>
          <a:prstGeom prst="rect">
            <a:avLst/>
          </a:prstGeom>
          <a:noFill/>
        </p:spPr>
        <p:txBody>
          <a:bodyPr wrap="square" anchor="ctr" lIns="0" rIns="0" tIns="0" bIns="0">
            <a:spAutoFit/>
          </a:bodyPr>
          <a:lstStyle/>
          <a:p>
            <a:pPr algn="ctr">
              <a:lnSpc>
                <a:spcPct val="100000"/>
              </a:lnSpc>
              <a:spcAft>
                <a:spcPts val="400"/>
              </a:spcAft>
            </a:pPr>
            <a:r>
              <a:rPr sz="2800" b="1">
                <a:solidFill>
                  <a:srgbClr val="10495C"/>
                </a:solidFill>
                <a:latin typeface="Calibri"/>
              </a:rPr>
              <a:t>30,805</a:t>
            </a:r>
          </a:p>
          <a:p>
            <a:pPr algn="ctr">
              <a:lnSpc>
                <a:spcPct val="100000"/>
              </a:lnSpc>
              <a:spcAft>
                <a:spcPts val="400"/>
              </a:spcAft>
            </a:pPr>
            <a:r>
              <a:rPr sz="1250" b="0">
                <a:solidFill>
                  <a:srgbClr val="6E7882"/>
                </a:solidFill>
                <a:latin typeface="Calibri"/>
              </a:rPr>
              <a:t>patients</a:t>
            </a:r>
          </a:p>
        </p:txBody>
      </p:sp>
      <p:sp>
        <p:nvSpPr>
          <p:cNvPr id="14" name="Rounded Rectangle 13"/>
          <p:cNvSpPr/>
          <p:nvPr/>
        </p:nvSpPr>
        <p:spPr>
          <a:xfrm>
            <a:off x="8127796" y="2331720"/>
            <a:ext cx="3515258" cy="1051560"/>
          </a:xfrm>
          <a:prstGeom prst="roundRect">
            <a:avLst/>
          </a:prstGeom>
          <a:solidFill>
            <a:srgbClr val="FFFFFF"/>
          </a:solidFill>
          <a:ln w="12700">
            <a:solidFill>
              <a:srgbClr val="DD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27796" y="2331720"/>
            <a:ext cx="3515258" cy="109728"/>
          </a:xfrm>
          <a:prstGeom prst="round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7796" y="2496312"/>
            <a:ext cx="3515258" cy="813815"/>
          </a:xfrm>
          <a:prstGeom prst="rect">
            <a:avLst/>
          </a:prstGeom>
          <a:noFill/>
        </p:spPr>
        <p:txBody>
          <a:bodyPr wrap="square" anchor="ctr" lIns="0" rIns="0" tIns="0" bIns="0">
            <a:spAutoFit/>
          </a:bodyPr>
          <a:lstStyle/>
          <a:p>
            <a:pPr algn="ctr">
              <a:lnSpc>
                <a:spcPct val="100000"/>
              </a:lnSpc>
              <a:spcAft>
                <a:spcPts val="400"/>
              </a:spcAft>
            </a:pPr>
            <a:r>
              <a:rPr sz="2800" b="1">
                <a:solidFill>
                  <a:srgbClr val="E07A33"/>
                </a:solidFill>
                <a:latin typeface="Calibri"/>
              </a:rPr>
              <a:t>14</a:t>
            </a:r>
          </a:p>
          <a:p>
            <a:pPr algn="ctr">
              <a:lnSpc>
                <a:spcPct val="100000"/>
              </a:lnSpc>
              <a:spcAft>
                <a:spcPts val="400"/>
              </a:spcAft>
            </a:pPr>
            <a:r>
              <a:rPr sz="1250" b="0">
                <a:solidFill>
                  <a:srgbClr val="6E7882"/>
                </a:solidFill>
                <a:latin typeface="Calibri"/>
              </a:rPr>
              <a:t>conditions</a:t>
            </a:r>
          </a:p>
        </p:txBody>
      </p:sp>
      <p:sp>
        <p:nvSpPr>
          <p:cNvPr id="17" name="Rectangle 16"/>
          <p:cNvSpPr/>
          <p:nvPr/>
        </p:nvSpPr>
        <p:spPr>
          <a:xfrm>
            <a:off x="2092063" y="3511296"/>
            <a:ext cx="8007567" cy="2350008"/>
          </a:xfrm>
          <a:prstGeom prst="rect">
            <a:avLst/>
          </a:prstGeom>
          <a:solidFill>
            <a:srgbClr val="FFFFFF"/>
          </a:solidFill>
          <a:ln w="12700">
            <a:solidFill>
              <a:srgbClr val="DD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amples.png"/>
          <p:cNvPicPr>
            <a:picLocks noChangeAspect="1"/>
          </p:cNvPicPr>
          <p:nvPr/>
        </p:nvPicPr>
        <p:blipFill>
          <a:blip r:embed="rId2"/>
          <a:stretch>
            <a:fillRect/>
          </a:stretch>
        </p:blipFill>
        <p:spPr>
          <a:xfrm>
            <a:off x="2146927" y="3566160"/>
            <a:ext cx="7897839" cy="2240280"/>
          </a:xfrm>
          <a:prstGeom prst="rect">
            <a:avLst/>
          </a:prstGeom>
        </p:spPr>
      </p:pic>
      <p:sp>
        <p:nvSpPr>
          <p:cNvPr id="19" name="TextBox 18"/>
          <p:cNvSpPr txBox="1"/>
          <p:nvPr/>
        </p:nvSpPr>
        <p:spPr>
          <a:xfrm>
            <a:off x="548640" y="5870448"/>
            <a:ext cx="11094415" cy="365760"/>
          </a:xfrm>
          <a:prstGeom prst="rect">
            <a:avLst/>
          </a:prstGeom>
          <a:noFill/>
        </p:spPr>
        <p:txBody>
          <a:bodyPr wrap="square" anchor="t" lIns="0" rIns="0" tIns="0" bIns="0">
            <a:spAutoFit/>
          </a:bodyPr>
          <a:lstStyle/>
          <a:p>
            <a:pPr algn="ctr">
              <a:lnSpc>
                <a:spcPct val="100000"/>
              </a:lnSpc>
              <a:spcAft>
                <a:spcPts val="400"/>
              </a:spcAft>
            </a:pPr>
            <a:r>
              <a:rPr sz="1200" b="0" i="1">
                <a:solidFill>
                  <a:srgbClr val="6E7882"/>
                </a:solidFill>
                <a:latin typeface="Calibri"/>
              </a:rPr>
              <a:t>Real examples with their labels. For this project we used about 25,000 of the 112,120 images (a laptop-friendly slice).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40080"/>
          </a:xfrm>
          <a:prstGeom prst="rect">
            <a:avLst/>
          </a:prstGeom>
          <a:noFill/>
        </p:spPr>
        <p:txBody>
          <a:bodyPr wrap="square" anchor="ctr" lIns="0" rIns="0" tIns="0" bIns="0">
            <a:spAutoFit/>
          </a:bodyPr>
          <a:lstStyle/>
          <a:p>
            <a:pPr algn="l">
              <a:lnSpc>
                <a:spcPct val="100000"/>
              </a:lnSpc>
              <a:spcAft>
                <a:spcPts val="400"/>
              </a:spcAft>
            </a:pPr>
            <a:r>
              <a:rPr sz="2600" b="1">
                <a:solidFill>
                  <a:srgbClr val="10495C"/>
                </a:solidFill>
                <a:latin typeface="Calibri"/>
              </a:rPr>
              <a:t>The catch: the data is lopsided</a:t>
            </a:r>
          </a:p>
        </p:txBody>
      </p:sp>
      <p:sp>
        <p:nvSpPr>
          <p:cNvPr id="4" name="Rectangle 3"/>
          <p:cNvSpPr/>
          <p:nvPr/>
        </p:nvSpPr>
        <p:spPr>
          <a:xfrm>
            <a:off x="548640" y="1078992"/>
            <a:ext cx="1051560" cy="64008"/>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97135" y="6455664"/>
            <a:ext cx="1737360" cy="274320"/>
          </a:xfrm>
          <a:prstGeom prst="rect">
            <a:avLst/>
          </a:prstGeom>
          <a:noFill/>
        </p:spPr>
        <p:txBody>
          <a:bodyPr wrap="square" anchor="t" lIns="0" rIns="0" tIns="0" bIns="0">
            <a:spAutoFit/>
          </a:bodyPr>
          <a:lstStyle/>
          <a:p>
            <a:pPr algn="r">
              <a:lnSpc>
                <a:spcPct val="100000"/>
              </a:lnSpc>
              <a:spcAft>
                <a:spcPts val="400"/>
              </a:spcAft>
            </a:pPr>
            <a:r>
              <a:rPr sz="1100" b="0">
                <a:solidFill>
                  <a:srgbClr val="6E7882"/>
                </a:solidFill>
                <a:latin typeface="Calibri"/>
              </a:rPr>
              <a:t>3</a:t>
            </a:r>
          </a:p>
        </p:txBody>
      </p:sp>
      <p:sp>
        <p:nvSpPr>
          <p:cNvPr id="6" name="TextBox 5"/>
          <p:cNvSpPr txBox="1"/>
          <p:nvPr/>
        </p:nvSpPr>
        <p:spPr>
          <a:xfrm>
            <a:off x="548640" y="6455664"/>
            <a:ext cx="7315200" cy="274320"/>
          </a:xfrm>
          <a:prstGeom prst="rect">
            <a:avLst/>
          </a:prstGeom>
          <a:noFill/>
        </p:spPr>
        <p:txBody>
          <a:bodyPr wrap="square" anchor="t" lIns="0" rIns="0" tIns="0" bIns="0">
            <a:spAutoFit/>
          </a:bodyPr>
          <a:lstStyle/>
          <a:p>
            <a:pPr algn="l">
              <a:lnSpc>
                <a:spcPct val="100000"/>
              </a:lnSpc>
              <a:spcAft>
                <a:spcPts val="400"/>
              </a:spcAft>
            </a:pPr>
            <a:r>
              <a:rPr sz="1000" b="0">
                <a:solidFill>
                  <a:srgbClr val="6E7882"/>
                </a:solidFill>
                <a:latin typeface="Calibri"/>
              </a:rPr>
              <a:t>NIH ChestX-ray14  ·  MSBA 645 Final Project</a:t>
            </a:r>
          </a:p>
        </p:txBody>
      </p:sp>
      <p:sp>
        <p:nvSpPr>
          <p:cNvPr id="7" name="Rectangle 6"/>
          <p:cNvSpPr/>
          <p:nvPr/>
        </p:nvSpPr>
        <p:spPr>
          <a:xfrm>
            <a:off x="493776" y="1974937"/>
            <a:ext cx="6510528" cy="2633804"/>
          </a:xfrm>
          <a:prstGeom prst="rect">
            <a:avLst/>
          </a:prstGeom>
          <a:solidFill>
            <a:srgbClr val="FFFFFF"/>
          </a:solidFill>
          <a:ln w="12700">
            <a:solidFill>
              <a:srgbClr val="DD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req.png"/>
          <p:cNvPicPr>
            <a:picLocks noChangeAspect="1"/>
          </p:cNvPicPr>
          <p:nvPr/>
        </p:nvPicPr>
        <p:blipFill>
          <a:blip r:embed="rId2"/>
          <a:stretch>
            <a:fillRect/>
          </a:stretch>
        </p:blipFill>
        <p:spPr>
          <a:xfrm>
            <a:off x="548640" y="2029801"/>
            <a:ext cx="6400800" cy="2524076"/>
          </a:xfrm>
          <a:prstGeom prst="rect">
            <a:avLst/>
          </a:prstGeom>
        </p:spPr>
      </p:pic>
      <p:sp>
        <p:nvSpPr>
          <p:cNvPr id="9" name="Rounded Rectangle 8"/>
          <p:cNvSpPr/>
          <p:nvPr/>
        </p:nvSpPr>
        <p:spPr>
          <a:xfrm>
            <a:off x="7132320" y="1737360"/>
            <a:ext cx="4510735" cy="3200400"/>
          </a:xfrm>
          <a:prstGeom prst="roundRect">
            <a:avLst/>
          </a:prstGeom>
          <a:solidFill>
            <a:srgbClr val="FB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0920" y="1965960"/>
            <a:ext cx="4053535" cy="2743200"/>
          </a:xfrm>
          <a:prstGeom prst="rect">
            <a:avLst/>
          </a:prstGeom>
          <a:noFill/>
        </p:spPr>
        <p:txBody>
          <a:bodyPr wrap="square" anchor="t" lIns="0" rIns="0" tIns="0" bIns="0">
            <a:spAutoFit/>
          </a:bodyPr>
          <a:lstStyle/>
          <a:p>
            <a:pPr algn="l">
              <a:lnSpc>
                <a:spcPct val="105000"/>
              </a:lnSpc>
              <a:spcAft>
                <a:spcPts val="400"/>
              </a:spcAft>
            </a:pPr>
            <a:r>
              <a:rPr sz="1500" b="1">
                <a:solidFill>
                  <a:srgbClr val="E07A33"/>
                </a:solidFill>
                <a:latin typeface="Calibri"/>
              </a:rPr>
              <a:t>Why this matters</a:t>
            </a:r>
          </a:p>
          <a:p>
            <a:pPr algn="l">
              <a:lnSpc>
                <a:spcPct val="105000"/>
              </a:lnSpc>
              <a:spcAft>
                <a:spcPts val="400"/>
              </a:spcAft>
            </a:pPr>
            <a:r>
              <a:rPr sz="1450" b="0">
                <a:solidFill>
                  <a:srgbClr val="222A30"/>
                </a:solidFill>
                <a:latin typeface="Calibri"/>
              </a:rPr>
              <a:t>About half of all X-rays are normal, and some conditions are rare.</a:t>
            </a:r>
          </a:p>
          <a:p>
            <a:pPr algn="l">
              <a:lnSpc>
                <a:spcPct val="105000"/>
              </a:lnSpc>
              <a:spcAft>
                <a:spcPts val="400"/>
              </a:spcAft>
            </a:pPr>
            <a:r>
              <a:rPr sz="700" b="0">
                <a:solidFill>
                  <a:srgbClr val="222A30"/>
                </a:solidFill>
                <a:latin typeface="Calibri"/>
              </a:rPr>
              <a:t> </a:t>
            </a:r>
          </a:p>
          <a:p>
            <a:pPr algn="l">
              <a:lnSpc>
                <a:spcPct val="105000"/>
              </a:lnSpc>
              <a:spcAft>
                <a:spcPts val="400"/>
              </a:spcAft>
            </a:pPr>
            <a:r>
              <a:rPr sz="1450" b="0">
                <a:solidFill>
                  <a:srgbClr val="222A30"/>
                </a:solidFill>
                <a:latin typeface="Calibri"/>
              </a:rPr>
              <a:t>So a lazy model that always says “nothing’s wrong” is right ~95% of the time, but it’s useless.</a:t>
            </a:r>
          </a:p>
          <a:p>
            <a:pPr algn="l">
              <a:lnSpc>
                <a:spcPct val="105000"/>
              </a:lnSpc>
              <a:spcAft>
                <a:spcPts val="400"/>
              </a:spcAft>
            </a:pPr>
            <a:r>
              <a:rPr sz="700" b="0">
                <a:solidFill>
                  <a:srgbClr val="222A30"/>
                </a:solidFill>
                <a:latin typeface="Calibri"/>
              </a:rPr>
              <a:t> </a:t>
            </a:r>
          </a:p>
          <a:p>
            <a:pPr algn="l">
              <a:lnSpc>
                <a:spcPct val="105000"/>
              </a:lnSpc>
              <a:spcAft>
                <a:spcPts val="400"/>
              </a:spcAft>
            </a:pPr>
            <a:r>
              <a:rPr sz="1450" b="0">
                <a:solidFill>
                  <a:srgbClr val="222A30"/>
                </a:solidFill>
                <a:latin typeface="Calibri"/>
              </a:rPr>
              <a:t>That’s why we don’t trust accuracy alone. We judge by AUC (how well it tells sick from healthy) and recall (how much real disease it catches).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40080"/>
          </a:xfrm>
          <a:prstGeom prst="rect">
            <a:avLst/>
          </a:prstGeom>
          <a:noFill/>
        </p:spPr>
        <p:txBody>
          <a:bodyPr wrap="square" anchor="ctr" lIns="0" rIns="0" tIns="0" bIns="0">
            <a:spAutoFit/>
          </a:bodyPr>
          <a:lstStyle/>
          <a:p>
            <a:pPr algn="l">
              <a:lnSpc>
                <a:spcPct val="100000"/>
              </a:lnSpc>
              <a:spcAft>
                <a:spcPts val="400"/>
              </a:spcAft>
            </a:pPr>
            <a:r>
              <a:rPr sz="2600" b="1">
                <a:solidFill>
                  <a:srgbClr val="10495C"/>
                </a:solidFill>
                <a:latin typeface="Calibri"/>
              </a:rPr>
              <a:t>A closer look at the data</a:t>
            </a:r>
          </a:p>
        </p:txBody>
      </p:sp>
      <p:sp>
        <p:nvSpPr>
          <p:cNvPr id="4" name="Rectangle 3"/>
          <p:cNvSpPr/>
          <p:nvPr/>
        </p:nvSpPr>
        <p:spPr>
          <a:xfrm>
            <a:off x="548640" y="1078992"/>
            <a:ext cx="1051560" cy="64008"/>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97135" y="6455664"/>
            <a:ext cx="1737360" cy="274320"/>
          </a:xfrm>
          <a:prstGeom prst="rect">
            <a:avLst/>
          </a:prstGeom>
          <a:noFill/>
        </p:spPr>
        <p:txBody>
          <a:bodyPr wrap="square" anchor="t" lIns="0" rIns="0" tIns="0" bIns="0">
            <a:spAutoFit/>
          </a:bodyPr>
          <a:lstStyle/>
          <a:p>
            <a:pPr algn="r">
              <a:lnSpc>
                <a:spcPct val="100000"/>
              </a:lnSpc>
              <a:spcAft>
                <a:spcPts val="400"/>
              </a:spcAft>
            </a:pPr>
            <a:r>
              <a:rPr sz="1100" b="0">
                <a:solidFill>
                  <a:srgbClr val="6E7882"/>
                </a:solidFill>
                <a:latin typeface="Calibri"/>
              </a:rPr>
              <a:t>4</a:t>
            </a:r>
          </a:p>
        </p:txBody>
      </p:sp>
      <p:sp>
        <p:nvSpPr>
          <p:cNvPr id="6" name="TextBox 5"/>
          <p:cNvSpPr txBox="1"/>
          <p:nvPr/>
        </p:nvSpPr>
        <p:spPr>
          <a:xfrm>
            <a:off x="548640" y="6455664"/>
            <a:ext cx="7315200" cy="274320"/>
          </a:xfrm>
          <a:prstGeom prst="rect">
            <a:avLst/>
          </a:prstGeom>
          <a:noFill/>
        </p:spPr>
        <p:txBody>
          <a:bodyPr wrap="square" anchor="t" lIns="0" rIns="0" tIns="0" bIns="0">
            <a:spAutoFit/>
          </a:bodyPr>
          <a:lstStyle/>
          <a:p>
            <a:pPr algn="l">
              <a:lnSpc>
                <a:spcPct val="100000"/>
              </a:lnSpc>
              <a:spcAft>
                <a:spcPts val="400"/>
              </a:spcAft>
            </a:pPr>
            <a:r>
              <a:rPr sz="1000" b="0">
                <a:solidFill>
                  <a:srgbClr val="6E7882"/>
                </a:solidFill>
                <a:latin typeface="Calibri"/>
              </a:rPr>
              <a:t>NIH ChestX-ray14  ·  MSBA 645 Final Project</a:t>
            </a:r>
          </a:p>
        </p:txBody>
      </p:sp>
      <p:sp>
        <p:nvSpPr>
          <p:cNvPr id="7" name="Rectangle 6"/>
          <p:cNvSpPr/>
          <p:nvPr/>
        </p:nvSpPr>
        <p:spPr>
          <a:xfrm>
            <a:off x="908026" y="1362456"/>
            <a:ext cx="4767626" cy="3858768"/>
          </a:xfrm>
          <a:prstGeom prst="rect">
            <a:avLst/>
          </a:prstGeom>
          <a:solidFill>
            <a:srgbClr val="FFFFFF"/>
          </a:solidFill>
          <a:ln w="12700">
            <a:solidFill>
              <a:srgbClr val="DD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occurrence.png"/>
          <p:cNvPicPr>
            <a:picLocks noChangeAspect="1"/>
          </p:cNvPicPr>
          <p:nvPr/>
        </p:nvPicPr>
        <p:blipFill>
          <a:blip r:embed="rId2"/>
          <a:stretch>
            <a:fillRect/>
          </a:stretch>
        </p:blipFill>
        <p:spPr>
          <a:xfrm>
            <a:off x="962890" y="1417320"/>
            <a:ext cx="4657898" cy="3749039"/>
          </a:xfrm>
          <a:prstGeom prst="rect">
            <a:avLst/>
          </a:prstGeom>
        </p:spPr>
      </p:pic>
      <p:sp>
        <p:nvSpPr>
          <p:cNvPr id="9" name="TextBox 8"/>
          <p:cNvSpPr txBox="1"/>
          <p:nvPr/>
        </p:nvSpPr>
        <p:spPr>
          <a:xfrm>
            <a:off x="548640" y="5230368"/>
            <a:ext cx="5486400" cy="365760"/>
          </a:xfrm>
          <a:prstGeom prst="rect">
            <a:avLst/>
          </a:prstGeom>
          <a:noFill/>
        </p:spPr>
        <p:txBody>
          <a:bodyPr wrap="square" anchor="t" lIns="0" rIns="0" tIns="0" bIns="0">
            <a:spAutoFit/>
          </a:bodyPr>
          <a:lstStyle/>
          <a:p>
            <a:pPr algn="ctr">
              <a:lnSpc>
                <a:spcPct val="100000"/>
              </a:lnSpc>
              <a:spcAft>
                <a:spcPts val="400"/>
              </a:spcAft>
            </a:pPr>
            <a:r>
              <a:rPr sz="1100" b="0" i="1">
                <a:solidFill>
                  <a:srgbClr val="6E7882"/>
                </a:solidFill>
                <a:latin typeface="Calibri"/>
              </a:rPr>
              <a:t>How often two conditions appear on the same X-ray (brighter = more often together).</a:t>
            </a:r>
          </a:p>
        </p:txBody>
      </p:sp>
      <p:sp>
        <p:nvSpPr>
          <p:cNvPr id="10" name="TextBox 9"/>
          <p:cNvSpPr txBox="1"/>
          <p:nvPr/>
        </p:nvSpPr>
        <p:spPr>
          <a:xfrm>
            <a:off x="6400800" y="1508760"/>
            <a:ext cx="5242255" cy="457200"/>
          </a:xfrm>
          <a:prstGeom prst="rect">
            <a:avLst/>
          </a:prstGeom>
          <a:noFill/>
        </p:spPr>
        <p:txBody>
          <a:bodyPr wrap="square" anchor="t" lIns="0" rIns="0" tIns="0" bIns="0">
            <a:spAutoFit/>
          </a:bodyPr>
          <a:lstStyle/>
          <a:p>
            <a:pPr algn="l">
              <a:lnSpc>
                <a:spcPct val="100000"/>
              </a:lnSpc>
              <a:spcAft>
                <a:spcPts val="400"/>
              </a:spcAft>
            </a:pPr>
            <a:r>
              <a:rPr sz="1500" b="1">
                <a:solidFill>
                  <a:srgbClr val="10495C"/>
                </a:solidFill>
                <a:latin typeface="Calibri"/>
              </a:rPr>
              <a:t>Conditions overlap</a:t>
            </a:r>
          </a:p>
        </p:txBody>
      </p:sp>
      <p:sp>
        <p:nvSpPr>
          <p:cNvPr id="11" name="TextBox 10"/>
          <p:cNvSpPr txBox="1"/>
          <p:nvPr/>
        </p:nvSpPr>
        <p:spPr>
          <a:xfrm>
            <a:off x="6400800" y="2011680"/>
            <a:ext cx="5242255" cy="1828800"/>
          </a:xfrm>
          <a:prstGeom prst="rect">
            <a:avLst/>
          </a:prstGeom>
          <a:noFill/>
        </p:spPr>
        <p:txBody>
          <a:bodyPr wrap="square" lIns="0" rIns="0" tIns="0" bIns="0">
            <a:spAutoFit/>
          </a:bodyPr>
          <a:lstStyle/>
          <a:p>
            <a:pPr>
              <a:lnSpc>
                <a:spcPct val="108000"/>
              </a:lnSpc>
              <a:spcAft>
                <a:spcPts val="800"/>
              </a:spcAft>
            </a:pPr>
            <a:r>
              <a:rPr sz="1350" b="1">
                <a:solidFill>
                  <a:srgbClr val="E07A33"/>
                </a:solidFill>
                <a:latin typeface="Calibri"/>
              </a:rPr>
              <a:t>•  </a:t>
            </a:r>
            <a:r>
              <a:rPr sz="1350">
                <a:solidFill>
                  <a:srgbClr val="222A30"/>
                </a:solidFill>
                <a:latin typeface="Calibri"/>
              </a:rPr>
              <a:t>Findings travel together: Effusion + Infiltration, Atelectasis + Effusion, Pneumothorax + Emphysema.</a:t>
            </a:r>
          </a:p>
          <a:p>
            <a:pPr>
              <a:lnSpc>
                <a:spcPct val="108000"/>
              </a:lnSpc>
              <a:spcAft>
                <a:spcPts val="800"/>
              </a:spcAft>
            </a:pPr>
            <a:r>
              <a:rPr sz="1350" b="1">
                <a:solidFill>
                  <a:srgbClr val="E07A33"/>
                </a:solidFill>
                <a:latin typeface="Calibri"/>
              </a:rPr>
              <a:t>•  </a:t>
            </a:r>
            <a:r>
              <a:rPr sz="1350">
                <a:solidFill>
                  <a:srgbClr val="222A30"/>
                </a:solidFill>
                <a:latin typeface="Calibri"/>
              </a:rPr>
              <a:t>So the 14 labels aren’t independent, one image can carry several at once.</a:t>
            </a:r>
          </a:p>
          <a:p>
            <a:pPr>
              <a:lnSpc>
                <a:spcPct val="108000"/>
              </a:lnSpc>
              <a:spcAft>
                <a:spcPts val="800"/>
              </a:spcAft>
            </a:pPr>
            <a:r>
              <a:rPr sz="1350" b="1">
                <a:solidFill>
                  <a:srgbClr val="E07A33"/>
                </a:solidFill>
                <a:latin typeface="Calibri"/>
              </a:rPr>
              <a:t>•  </a:t>
            </a:r>
            <a:r>
              <a:rPr sz="1350">
                <a:solidFill>
                  <a:srgbClr val="222A30"/>
                </a:solidFill>
                <a:latin typeface="Calibri"/>
              </a:rPr>
              <a:t>That overlap is why we score each condition on its own with AUC and recall, not one accuracy number.</a:t>
            </a:r>
          </a:p>
        </p:txBody>
      </p:sp>
      <p:sp>
        <p:nvSpPr>
          <p:cNvPr id="12" name="TextBox 11"/>
          <p:cNvSpPr txBox="1"/>
          <p:nvPr/>
        </p:nvSpPr>
        <p:spPr>
          <a:xfrm>
            <a:off x="6400800" y="3977639"/>
            <a:ext cx="5242255" cy="457200"/>
          </a:xfrm>
          <a:prstGeom prst="rect">
            <a:avLst/>
          </a:prstGeom>
          <a:noFill/>
        </p:spPr>
        <p:txBody>
          <a:bodyPr wrap="square" anchor="t" lIns="0" rIns="0" tIns="0" bIns="0">
            <a:spAutoFit/>
          </a:bodyPr>
          <a:lstStyle/>
          <a:p>
            <a:pPr algn="l">
              <a:lnSpc>
                <a:spcPct val="100000"/>
              </a:lnSpc>
              <a:spcAft>
                <a:spcPts val="400"/>
              </a:spcAft>
            </a:pPr>
            <a:r>
              <a:rPr sz="1500" b="1">
                <a:solidFill>
                  <a:srgbClr val="10495C"/>
                </a:solidFill>
                <a:latin typeface="Calibri"/>
              </a:rPr>
              <a:t>Who’s in the data</a:t>
            </a:r>
          </a:p>
        </p:txBody>
      </p:sp>
      <p:pic>
        <p:nvPicPr>
          <p:cNvPr id="13" name="Picture 12" descr="demographics.png"/>
          <p:cNvPicPr>
            <a:picLocks noChangeAspect="1"/>
          </p:cNvPicPr>
          <p:nvPr/>
        </p:nvPicPr>
        <p:blipFill>
          <a:blip r:embed="rId3"/>
          <a:stretch>
            <a:fillRect/>
          </a:stretch>
        </p:blipFill>
        <p:spPr>
          <a:xfrm>
            <a:off x="6746813" y="4389120"/>
            <a:ext cx="4550228" cy="1737360"/>
          </a:xfrm>
          <a:prstGeom prst="rect">
            <a:avLst/>
          </a:prstGeom>
        </p:spPr>
      </p:pic>
      <p:sp>
        <p:nvSpPr>
          <p:cNvPr id="14" name="TextBox 13"/>
          <p:cNvSpPr txBox="1"/>
          <p:nvPr/>
        </p:nvSpPr>
        <p:spPr>
          <a:xfrm>
            <a:off x="6400800" y="5989320"/>
            <a:ext cx="5242255" cy="365760"/>
          </a:xfrm>
          <a:prstGeom prst="rect">
            <a:avLst/>
          </a:prstGeom>
          <a:noFill/>
        </p:spPr>
        <p:txBody>
          <a:bodyPr wrap="square" anchor="t" lIns="0" rIns="0" tIns="0" bIns="0">
            <a:spAutoFit/>
          </a:bodyPr>
          <a:lstStyle/>
          <a:p>
            <a:pPr algn="ctr">
              <a:lnSpc>
                <a:spcPct val="100000"/>
              </a:lnSpc>
              <a:spcAft>
                <a:spcPts val="400"/>
              </a:spcAft>
            </a:pPr>
            <a:r>
              <a:rPr sz="1100" b="0" i="1">
                <a:solidFill>
                  <a:srgbClr val="6E7882"/>
                </a:solidFill>
                <a:latin typeface="Calibri"/>
              </a:rPr>
              <a:t>Mostly middle-aged adults (median 49), 56% male / 44% female, a generalisation flag.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40080"/>
          </a:xfrm>
          <a:prstGeom prst="rect">
            <a:avLst/>
          </a:prstGeom>
          <a:noFill/>
        </p:spPr>
        <p:txBody>
          <a:bodyPr wrap="square" anchor="ctr" lIns="0" rIns="0" tIns="0" bIns="0">
            <a:spAutoFit/>
          </a:bodyPr>
          <a:lstStyle/>
          <a:p>
            <a:pPr algn="l">
              <a:lnSpc>
                <a:spcPct val="100000"/>
              </a:lnSpc>
              <a:spcAft>
                <a:spcPts val="400"/>
              </a:spcAft>
            </a:pPr>
            <a:r>
              <a:rPr sz="2600" b="1">
                <a:solidFill>
                  <a:srgbClr val="10495C"/>
                </a:solidFill>
                <a:latin typeface="Calibri"/>
              </a:rPr>
              <a:t>Our approach: borrow a trained network</a:t>
            </a:r>
          </a:p>
        </p:txBody>
      </p:sp>
      <p:sp>
        <p:nvSpPr>
          <p:cNvPr id="4" name="Rectangle 3"/>
          <p:cNvSpPr/>
          <p:nvPr/>
        </p:nvSpPr>
        <p:spPr>
          <a:xfrm>
            <a:off x="548640" y="1078992"/>
            <a:ext cx="1051560" cy="64008"/>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97135" y="6455664"/>
            <a:ext cx="1737360" cy="274320"/>
          </a:xfrm>
          <a:prstGeom prst="rect">
            <a:avLst/>
          </a:prstGeom>
          <a:noFill/>
        </p:spPr>
        <p:txBody>
          <a:bodyPr wrap="square" anchor="t" lIns="0" rIns="0" tIns="0" bIns="0">
            <a:spAutoFit/>
          </a:bodyPr>
          <a:lstStyle/>
          <a:p>
            <a:pPr algn="r">
              <a:lnSpc>
                <a:spcPct val="100000"/>
              </a:lnSpc>
              <a:spcAft>
                <a:spcPts val="400"/>
              </a:spcAft>
            </a:pPr>
            <a:r>
              <a:rPr sz="1100" b="0">
                <a:solidFill>
                  <a:srgbClr val="6E7882"/>
                </a:solidFill>
                <a:latin typeface="Calibri"/>
              </a:rPr>
              <a:t>5</a:t>
            </a:r>
          </a:p>
        </p:txBody>
      </p:sp>
      <p:sp>
        <p:nvSpPr>
          <p:cNvPr id="6" name="TextBox 5"/>
          <p:cNvSpPr txBox="1"/>
          <p:nvPr/>
        </p:nvSpPr>
        <p:spPr>
          <a:xfrm>
            <a:off x="548640" y="6455664"/>
            <a:ext cx="7315200" cy="274320"/>
          </a:xfrm>
          <a:prstGeom prst="rect">
            <a:avLst/>
          </a:prstGeom>
          <a:noFill/>
        </p:spPr>
        <p:txBody>
          <a:bodyPr wrap="square" anchor="t" lIns="0" rIns="0" tIns="0" bIns="0">
            <a:spAutoFit/>
          </a:bodyPr>
          <a:lstStyle/>
          <a:p>
            <a:pPr algn="l">
              <a:lnSpc>
                <a:spcPct val="100000"/>
              </a:lnSpc>
              <a:spcAft>
                <a:spcPts val="400"/>
              </a:spcAft>
            </a:pPr>
            <a:r>
              <a:rPr sz="1000" b="0">
                <a:solidFill>
                  <a:srgbClr val="6E7882"/>
                </a:solidFill>
                <a:latin typeface="Calibri"/>
              </a:rPr>
              <a:t>NIH ChestX-ray14  ·  MSBA 645 Final Project</a:t>
            </a:r>
          </a:p>
        </p:txBody>
      </p:sp>
      <p:sp>
        <p:nvSpPr>
          <p:cNvPr id="7" name="TextBox 6"/>
          <p:cNvSpPr txBox="1"/>
          <p:nvPr/>
        </p:nvSpPr>
        <p:spPr>
          <a:xfrm>
            <a:off x="548640" y="1463040"/>
            <a:ext cx="11094415" cy="822960"/>
          </a:xfrm>
          <a:prstGeom prst="rect">
            <a:avLst/>
          </a:prstGeom>
          <a:noFill/>
        </p:spPr>
        <p:txBody>
          <a:bodyPr wrap="square" anchor="t" lIns="0" rIns="0" tIns="0" bIns="0">
            <a:spAutoFit/>
          </a:bodyPr>
          <a:lstStyle/>
          <a:p>
            <a:pPr algn="l">
              <a:lnSpc>
                <a:spcPct val="100000"/>
              </a:lnSpc>
              <a:spcAft>
                <a:spcPts val="400"/>
              </a:spcAft>
            </a:pPr>
            <a:r>
              <a:rPr sz="1600" b="0">
                <a:solidFill>
                  <a:srgbClr val="222A30"/>
                </a:solidFill>
                <a:latin typeface="Calibri"/>
              </a:rPr>
              <a:t>Training an image model from scratch needs a GPU and tons of data. Instead we reuse a network already trained on millions of images, and train small models on top of it.</a:t>
            </a:r>
          </a:p>
        </p:txBody>
      </p:sp>
      <p:sp>
        <p:nvSpPr>
          <p:cNvPr id="8" name="Rounded Rectangle 7"/>
          <p:cNvSpPr/>
          <p:nvPr/>
        </p:nvSpPr>
        <p:spPr>
          <a:xfrm>
            <a:off x="548640" y="3383280"/>
            <a:ext cx="1874519" cy="1371600"/>
          </a:xfrm>
          <a:prstGeom prst="round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383280"/>
            <a:ext cx="1874519" cy="1371600"/>
          </a:xfrm>
          <a:prstGeom prst="rect">
            <a:avLst/>
          </a:prstGeom>
          <a:noFill/>
        </p:spPr>
        <p:txBody>
          <a:bodyPr wrap="square" anchor="ctr" lIns="0" rIns="0" tIns="0" bIns="0">
            <a:spAutoFit/>
          </a:bodyPr>
          <a:lstStyle/>
          <a:p>
            <a:pPr algn="ctr">
              <a:lnSpc>
                <a:spcPct val="100000"/>
              </a:lnSpc>
              <a:spcAft>
                <a:spcPts val="400"/>
              </a:spcAft>
            </a:pPr>
            <a:r>
              <a:rPr sz="1450" b="1">
                <a:solidFill>
                  <a:srgbClr val="FFFFFF"/>
                </a:solidFill>
                <a:latin typeface="Calibri"/>
              </a:rPr>
              <a:t>Chest
X-ray</a:t>
            </a:r>
          </a:p>
        </p:txBody>
      </p:sp>
      <p:sp>
        <p:nvSpPr>
          <p:cNvPr id="10" name="Chevron 9"/>
          <p:cNvSpPr/>
          <p:nvPr/>
        </p:nvSpPr>
        <p:spPr>
          <a:xfrm>
            <a:off x="2473794" y="3904488"/>
            <a:ext cx="329184" cy="329184"/>
          </a:xfrm>
          <a:prstGeom prst="chevron">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53613" y="3383280"/>
            <a:ext cx="1874519" cy="1371600"/>
          </a:xfrm>
          <a:prstGeom prst="roundRect">
            <a:avLst/>
          </a:prstGeom>
          <a:solidFill>
            <a:srgbClr val="1C6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3613" y="3383280"/>
            <a:ext cx="1874519" cy="1371600"/>
          </a:xfrm>
          <a:prstGeom prst="rect">
            <a:avLst/>
          </a:prstGeom>
          <a:noFill/>
        </p:spPr>
        <p:txBody>
          <a:bodyPr wrap="square" anchor="ctr" lIns="0" rIns="0" tIns="0" bIns="0">
            <a:spAutoFit/>
          </a:bodyPr>
          <a:lstStyle/>
          <a:p>
            <a:pPr algn="ctr">
              <a:lnSpc>
                <a:spcPct val="100000"/>
              </a:lnSpc>
              <a:spcAft>
                <a:spcPts val="400"/>
              </a:spcAft>
            </a:pPr>
            <a:r>
              <a:rPr sz="1450" b="1">
                <a:solidFill>
                  <a:srgbClr val="FFFFFF"/>
                </a:solidFill>
                <a:latin typeface="Calibri"/>
              </a:rPr>
              <a:t>Pretrained network
(frozen)</a:t>
            </a:r>
          </a:p>
        </p:txBody>
      </p:sp>
      <p:sp>
        <p:nvSpPr>
          <p:cNvPr id="13" name="Chevron 12"/>
          <p:cNvSpPr/>
          <p:nvPr/>
        </p:nvSpPr>
        <p:spPr>
          <a:xfrm>
            <a:off x="4778768" y="3904488"/>
            <a:ext cx="329184" cy="329184"/>
          </a:xfrm>
          <a:prstGeom prst="chevron">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58587" y="3383280"/>
            <a:ext cx="1874519" cy="1371600"/>
          </a:xfrm>
          <a:prstGeom prst="roundRect">
            <a:avLst/>
          </a:prstGeom>
          <a:solidFill>
            <a:srgbClr val="1C6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8587" y="3383280"/>
            <a:ext cx="1874519" cy="1371600"/>
          </a:xfrm>
          <a:prstGeom prst="rect">
            <a:avLst/>
          </a:prstGeom>
          <a:noFill/>
        </p:spPr>
        <p:txBody>
          <a:bodyPr wrap="square" anchor="ctr" lIns="0" rIns="0" tIns="0" bIns="0">
            <a:spAutoFit/>
          </a:bodyPr>
          <a:lstStyle/>
          <a:p>
            <a:pPr algn="ctr">
              <a:lnSpc>
                <a:spcPct val="100000"/>
              </a:lnSpc>
              <a:spcAft>
                <a:spcPts val="400"/>
              </a:spcAft>
            </a:pPr>
            <a:r>
              <a:rPr sz="1450" b="1">
                <a:solidFill>
                  <a:srgbClr val="FFFFFF"/>
                </a:solidFill>
                <a:latin typeface="Calibri"/>
              </a:rPr>
              <a:t>A list of
numbers</a:t>
            </a:r>
          </a:p>
        </p:txBody>
      </p:sp>
      <p:sp>
        <p:nvSpPr>
          <p:cNvPr id="16" name="Chevron 15"/>
          <p:cNvSpPr/>
          <p:nvPr/>
        </p:nvSpPr>
        <p:spPr>
          <a:xfrm>
            <a:off x="7083742" y="3904488"/>
            <a:ext cx="329184" cy="329184"/>
          </a:xfrm>
          <a:prstGeom prst="chevron">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63561" y="3383280"/>
            <a:ext cx="1874519" cy="1371600"/>
          </a:xfrm>
          <a:prstGeom prst="roundRect">
            <a:avLst/>
          </a:prstGeom>
          <a:solidFill>
            <a:srgbClr val="1C6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3561" y="3383280"/>
            <a:ext cx="1874519" cy="1371600"/>
          </a:xfrm>
          <a:prstGeom prst="rect">
            <a:avLst/>
          </a:prstGeom>
          <a:noFill/>
        </p:spPr>
        <p:txBody>
          <a:bodyPr wrap="square" anchor="ctr" lIns="0" rIns="0" tIns="0" bIns="0">
            <a:spAutoFit/>
          </a:bodyPr>
          <a:lstStyle/>
          <a:p>
            <a:pPr algn="ctr">
              <a:lnSpc>
                <a:spcPct val="100000"/>
              </a:lnSpc>
              <a:spcAft>
                <a:spcPts val="400"/>
              </a:spcAft>
            </a:pPr>
            <a:r>
              <a:rPr sz="1450" b="1">
                <a:solidFill>
                  <a:srgbClr val="FFFFFF"/>
                </a:solidFill>
                <a:latin typeface="Calibri"/>
              </a:rPr>
              <a:t>Train simple
models</a:t>
            </a:r>
          </a:p>
        </p:txBody>
      </p:sp>
      <p:sp>
        <p:nvSpPr>
          <p:cNvPr id="19" name="Chevron 18"/>
          <p:cNvSpPr/>
          <p:nvPr/>
        </p:nvSpPr>
        <p:spPr>
          <a:xfrm>
            <a:off x="9388716" y="3904488"/>
            <a:ext cx="329184" cy="329184"/>
          </a:xfrm>
          <a:prstGeom prst="chevron">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768535" y="3383280"/>
            <a:ext cx="1874519" cy="1371600"/>
          </a:xfrm>
          <a:prstGeom prst="round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68535" y="3383280"/>
            <a:ext cx="1874519" cy="1371600"/>
          </a:xfrm>
          <a:prstGeom prst="rect">
            <a:avLst/>
          </a:prstGeom>
          <a:noFill/>
        </p:spPr>
        <p:txBody>
          <a:bodyPr wrap="square" anchor="ctr" lIns="0" rIns="0" tIns="0" bIns="0">
            <a:spAutoFit/>
          </a:bodyPr>
          <a:lstStyle/>
          <a:p>
            <a:pPr algn="ctr">
              <a:lnSpc>
                <a:spcPct val="100000"/>
              </a:lnSpc>
              <a:spcAft>
                <a:spcPts val="400"/>
              </a:spcAft>
            </a:pPr>
            <a:r>
              <a:rPr sz="1450" b="1">
                <a:solidFill>
                  <a:srgbClr val="FFFFFF"/>
                </a:solidFill>
                <a:latin typeface="Calibri"/>
              </a:rPr>
              <a:t>14 condition
probabilities</a:t>
            </a:r>
          </a:p>
        </p:txBody>
      </p:sp>
      <p:sp>
        <p:nvSpPr>
          <p:cNvPr id="22" name="TextBox 21"/>
          <p:cNvSpPr txBox="1"/>
          <p:nvPr/>
        </p:nvSpPr>
        <p:spPr>
          <a:xfrm>
            <a:off x="548640" y="5074920"/>
            <a:ext cx="11094415" cy="822960"/>
          </a:xfrm>
          <a:prstGeom prst="rect">
            <a:avLst/>
          </a:prstGeom>
          <a:noFill/>
        </p:spPr>
        <p:txBody>
          <a:bodyPr wrap="square" anchor="t" lIns="0" rIns="0" tIns="0" bIns="0">
            <a:spAutoFit/>
          </a:bodyPr>
          <a:lstStyle/>
          <a:p>
            <a:pPr algn="l">
              <a:lnSpc>
                <a:spcPct val="100000"/>
              </a:lnSpc>
              <a:spcAft>
                <a:spcPts val="400"/>
              </a:spcAft>
            </a:pPr>
            <a:r>
              <a:rPr sz="1400" b="0" i="1">
                <a:solidFill>
                  <a:srgbClr val="6E7882"/>
                </a:solidFill>
                <a:latin typeface="Calibri"/>
              </a:rPr>
              <a:t>This is called transfer learning. It’s one of several deep-learning techniques we use:</a:t>
            </a:r>
          </a:p>
          <a:p>
            <a:pPr algn="l">
              <a:lnSpc>
                <a:spcPct val="100000"/>
              </a:lnSpc>
              <a:spcAft>
                <a:spcPts val="400"/>
              </a:spcAft>
            </a:pPr>
            <a:r>
              <a:rPr sz="1400" b="0" i="1">
                <a:solidFill>
                  <a:srgbClr val="6E7882"/>
                </a:solidFill>
                <a:latin typeface="Calibri"/>
              </a:rPr>
              <a:t>transfer learning, a CNN built from scratch, fine-tuning, dropout, and Grad-CAM.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40080"/>
          </a:xfrm>
          <a:prstGeom prst="rect">
            <a:avLst/>
          </a:prstGeom>
          <a:noFill/>
        </p:spPr>
        <p:txBody>
          <a:bodyPr wrap="square" anchor="ctr" lIns="0" rIns="0" tIns="0" bIns="0">
            <a:spAutoFit/>
          </a:bodyPr>
          <a:lstStyle/>
          <a:p>
            <a:pPr algn="l">
              <a:lnSpc>
                <a:spcPct val="100000"/>
              </a:lnSpc>
              <a:spcAft>
                <a:spcPts val="400"/>
              </a:spcAft>
            </a:pPr>
            <a:r>
              <a:rPr sz="2600" b="1">
                <a:solidFill>
                  <a:srgbClr val="10495C"/>
                </a:solidFill>
                <a:latin typeface="Calibri"/>
              </a:rPr>
              <a:t>We tried several models</a:t>
            </a:r>
          </a:p>
        </p:txBody>
      </p:sp>
      <p:sp>
        <p:nvSpPr>
          <p:cNvPr id="4" name="Rectangle 3"/>
          <p:cNvSpPr/>
          <p:nvPr/>
        </p:nvSpPr>
        <p:spPr>
          <a:xfrm>
            <a:off x="548640" y="1078992"/>
            <a:ext cx="1051560" cy="64008"/>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97135" y="6455664"/>
            <a:ext cx="1737360" cy="274320"/>
          </a:xfrm>
          <a:prstGeom prst="rect">
            <a:avLst/>
          </a:prstGeom>
          <a:noFill/>
        </p:spPr>
        <p:txBody>
          <a:bodyPr wrap="square" anchor="t" lIns="0" rIns="0" tIns="0" bIns="0">
            <a:spAutoFit/>
          </a:bodyPr>
          <a:lstStyle/>
          <a:p>
            <a:pPr algn="r">
              <a:lnSpc>
                <a:spcPct val="100000"/>
              </a:lnSpc>
              <a:spcAft>
                <a:spcPts val="400"/>
              </a:spcAft>
            </a:pPr>
            <a:r>
              <a:rPr sz="1100" b="0">
                <a:solidFill>
                  <a:srgbClr val="6E7882"/>
                </a:solidFill>
                <a:latin typeface="Calibri"/>
              </a:rPr>
              <a:t>6</a:t>
            </a:r>
          </a:p>
        </p:txBody>
      </p:sp>
      <p:sp>
        <p:nvSpPr>
          <p:cNvPr id="6" name="TextBox 5"/>
          <p:cNvSpPr txBox="1"/>
          <p:nvPr/>
        </p:nvSpPr>
        <p:spPr>
          <a:xfrm>
            <a:off x="548640" y="6455664"/>
            <a:ext cx="7315200" cy="274320"/>
          </a:xfrm>
          <a:prstGeom prst="rect">
            <a:avLst/>
          </a:prstGeom>
          <a:noFill/>
        </p:spPr>
        <p:txBody>
          <a:bodyPr wrap="square" anchor="t" lIns="0" rIns="0" tIns="0" bIns="0">
            <a:spAutoFit/>
          </a:bodyPr>
          <a:lstStyle/>
          <a:p>
            <a:pPr algn="l">
              <a:lnSpc>
                <a:spcPct val="100000"/>
              </a:lnSpc>
              <a:spcAft>
                <a:spcPts val="400"/>
              </a:spcAft>
            </a:pPr>
            <a:r>
              <a:rPr sz="1000" b="0">
                <a:solidFill>
                  <a:srgbClr val="6E7882"/>
                </a:solidFill>
                <a:latin typeface="Calibri"/>
              </a:rPr>
              <a:t>NIH ChestX-ray14  ·  MSBA 645 Final Project</a:t>
            </a:r>
          </a:p>
        </p:txBody>
      </p:sp>
      <p:sp>
        <p:nvSpPr>
          <p:cNvPr id="7" name="Rectangle 6"/>
          <p:cNvSpPr/>
          <p:nvPr/>
        </p:nvSpPr>
        <p:spPr>
          <a:xfrm>
            <a:off x="493776" y="1808226"/>
            <a:ext cx="7150608" cy="3881628"/>
          </a:xfrm>
          <a:prstGeom prst="rect">
            <a:avLst/>
          </a:prstGeom>
          <a:solidFill>
            <a:srgbClr val="FFFFFF"/>
          </a:solidFill>
          <a:ln w="12700">
            <a:solidFill>
              <a:srgbClr val="DD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uc_simple.png"/>
          <p:cNvPicPr>
            <a:picLocks noChangeAspect="1"/>
          </p:cNvPicPr>
          <p:nvPr/>
        </p:nvPicPr>
        <p:blipFill>
          <a:blip r:embed="rId2"/>
          <a:stretch>
            <a:fillRect/>
          </a:stretch>
        </p:blipFill>
        <p:spPr>
          <a:xfrm>
            <a:off x="548640" y="1863090"/>
            <a:ext cx="7040880" cy="3771900"/>
          </a:xfrm>
          <a:prstGeom prst="rect">
            <a:avLst/>
          </a:prstGeom>
        </p:spPr>
      </p:pic>
      <p:sp>
        <p:nvSpPr>
          <p:cNvPr id="9" name="TextBox 8"/>
          <p:cNvSpPr txBox="1"/>
          <p:nvPr/>
        </p:nvSpPr>
        <p:spPr>
          <a:xfrm>
            <a:off x="7863840" y="1828800"/>
            <a:ext cx="3779215" cy="457200"/>
          </a:xfrm>
          <a:prstGeom prst="rect">
            <a:avLst/>
          </a:prstGeom>
          <a:noFill/>
        </p:spPr>
        <p:txBody>
          <a:bodyPr wrap="square" anchor="t" lIns="0" rIns="0" tIns="0" bIns="0">
            <a:spAutoFit/>
          </a:bodyPr>
          <a:lstStyle/>
          <a:p>
            <a:pPr algn="l">
              <a:lnSpc>
                <a:spcPct val="100000"/>
              </a:lnSpc>
              <a:spcAft>
                <a:spcPts val="400"/>
              </a:spcAft>
            </a:pPr>
            <a:r>
              <a:rPr sz="1500" b="1">
                <a:solidFill>
                  <a:srgbClr val="10495C"/>
                </a:solidFill>
                <a:latin typeface="Calibri"/>
              </a:rPr>
              <a:t>What we found</a:t>
            </a:r>
          </a:p>
        </p:txBody>
      </p:sp>
      <p:sp>
        <p:nvSpPr>
          <p:cNvPr id="10" name="TextBox 9"/>
          <p:cNvSpPr txBox="1"/>
          <p:nvPr/>
        </p:nvSpPr>
        <p:spPr>
          <a:xfrm>
            <a:off x="7863840" y="2286000"/>
            <a:ext cx="3779215" cy="2103120"/>
          </a:xfrm>
          <a:prstGeom prst="rect">
            <a:avLst/>
          </a:prstGeom>
          <a:noFill/>
        </p:spPr>
        <p:txBody>
          <a:bodyPr wrap="square" lIns="0" rIns="0" tIns="0" bIns="0">
            <a:spAutoFit/>
          </a:bodyPr>
          <a:lstStyle/>
          <a:p>
            <a:pPr>
              <a:lnSpc>
                <a:spcPct val="108000"/>
              </a:lnSpc>
              <a:spcAft>
                <a:spcPts val="800"/>
              </a:spcAft>
            </a:pPr>
            <a:r>
              <a:rPr sz="1400" b="1">
                <a:solidFill>
                  <a:srgbClr val="E07A33"/>
                </a:solidFill>
                <a:latin typeface="Calibri"/>
              </a:rPr>
              <a:t>•  </a:t>
            </a:r>
            <a:r>
              <a:rPr sz="1400">
                <a:solidFill>
                  <a:srgbClr val="222A30"/>
                </a:solidFill>
                <a:latin typeface="Calibri"/>
              </a:rPr>
              <a:t>Our deep-learning model (a neural network) came out best, around 0.73.</a:t>
            </a:r>
          </a:p>
          <a:p>
            <a:pPr>
              <a:lnSpc>
                <a:spcPct val="108000"/>
              </a:lnSpc>
              <a:spcAft>
                <a:spcPts val="800"/>
              </a:spcAft>
            </a:pPr>
            <a:r>
              <a:rPr sz="1400" b="1">
                <a:solidFill>
                  <a:srgbClr val="E07A33"/>
                </a:solidFill>
                <a:latin typeface="Calibri"/>
              </a:rPr>
              <a:t>•  </a:t>
            </a:r>
            <a:r>
              <a:rPr sz="1400">
                <a:solidFill>
                  <a:srgbClr val="222A30"/>
                </a:solidFill>
                <a:latin typeface="Calibri"/>
              </a:rPr>
              <a:t>The classical models (logistic regression, random forest, etc.) are simpler baselines for comparison.</a:t>
            </a:r>
          </a:p>
          <a:p>
            <a:pPr>
              <a:lnSpc>
                <a:spcPct val="108000"/>
              </a:lnSpc>
              <a:spcAft>
                <a:spcPts val="800"/>
              </a:spcAft>
            </a:pPr>
            <a:r>
              <a:rPr sz="1400" b="1">
                <a:solidFill>
                  <a:srgbClr val="E07A33"/>
                </a:solidFill>
                <a:latin typeface="Calibri"/>
              </a:rPr>
              <a:t>•  </a:t>
            </a:r>
            <a:r>
              <a:rPr sz="1400">
                <a:solidFill>
                  <a:srgbClr val="222A30"/>
                </a:solidFill>
                <a:latin typeface="Calibri"/>
              </a:rPr>
              <a:t>It's the one we keep, tune, and build on in the next slides.</a:t>
            </a:r>
          </a:p>
        </p:txBody>
      </p:sp>
      <p:sp>
        <p:nvSpPr>
          <p:cNvPr id="11" name="Rounded Rectangle 10"/>
          <p:cNvSpPr/>
          <p:nvPr/>
        </p:nvSpPr>
        <p:spPr>
          <a:xfrm>
            <a:off x="7863840" y="4343400"/>
            <a:ext cx="3779215" cy="1783080"/>
          </a:xfrm>
          <a:prstGeom prst="roundRect">
            <a:avLst/>
          </a:prstGeom>
          <a:solidFill>
            <a:srgbClr val="FB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4526280"/>
            <a:ext cx="3322015" cy="1463040"/>
          </a:xfrm>
          <a:prstGeom prst="rect">
            <a:avLst/>
          </a:prstGeom>
          <a:noFill/>
        </p:spPr>
        <p:txBody>
          <a:bodyPr wrap="square" anchor="t" lIns="0" rIns="0" tIns="0" bIns="0">
            <a:spAutoFit/>
          </a:bodyPr>
          <a:lstStyle/>
          <a:p>
            <a:pPr algn="l">
              <a:lnSpc>
                <a:spcPct val="104000"/>
              </a:lnSpc>
              <a:spcAft>
                <a:spcPts val="400"/>
              </a:spcAft>
            </a:pPr>
            <a:r>
              <a:rPr sz="1300" b="1">
                <a:solidFill>
                  <a:srgbClr val="E07A33"/>
                </a:solidFill>
                <a:latin typeface="Calibri"/>
              </a:rPr>
              <a:t>The catch: </a:t>
            </a:r>
            <a:r>
              <a:rPr sz="1300" b="0">
                <a:solidFill>
                  <a:srgbClr val="222A30"/>
                </a:solidFill>
                <a:latin typeface="Calibri"/>
              </a:rPr>
              <a:t>random forest came close on AUC, but it memorized the training data (perfect on train, 0.70 on new data) and rarely says “yes,” so it misses real cases. A high AUC isn’t enough, so we also check recall.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40080"/>
          </a:xfrm>
          <a:prstGeom prst="rect">
            <a:avLst/>
          </a:prstGeom>
          <a:noFill/>
        </p:spPr>
        <p:txBody>
          <a:bodyPr wrap="square" anchor="ctr" lIns="0" rIns="0" tIns="0" bIns="0">
            <a:spAutoFit/>
          </a:bodyPr>
          <a:lstStyle/>
          <a:p>
            <a:pPr algn="l">
              <a:lnSpc>
                <a:spcPct val="100000"/>
              </a:lnSpc>
              <a:spcAft>
                <a:spcPts val="400"/>
              </a:spcAft>
            </a:pPr>
            <a:r>
              <a:rPr sz="2600" b="1">
                <a:solidFill>
                  <a:srgbClr val="10495C"/>
                </a:solidFill>
                <a:latin typeface="Calibri"/>
              </a:rPr>
              <a:t>Deep learning: from scratch to fine-tuned</a:t>
            </a:r>
          </a:p>
        </p:txBody>
      </p:sp>
      <p:sp>
        <p:nvSpPr>
          <p:cNvPr id="4" name="Rectangle 3"/>
          <p:cNvSpPr/>
          <p:nvPr/>
        </p:nvSpPr>
        <p:spPr>
          <a:xfrm>
            <a:off x="548640" y="1078992"/>
            <a:ext cx="1051560" cy="64008"/>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97135" y="6455664"/>
            <a:ext cx="1737360" cy="274320"/>
          </a:xfrm>
          <a:prstGeom prst="rect">
            <a:avLst/>
          </a:prstGeom>
          <a:noFill/>
        </p:spPr>
        <p:txBody>
          <a:bodyPr wrap="square" anchor="t" lIns="0" rIns="0" tIns="0" bIns="0">
            <a:spAutoFit/>
          </a:bodyPr>
          <a:lstStyle/>
          <a:p>
            <a:pPr algn="r">
              <a:lnSpc>
                <a:spcPct val="100000"/>
              </a:lnSpc>
              <a:spcAft>
                <a:spcPts val="400"/>
              </a:spcAft>
            </a:pPr>
            <a:r>
              <a:rPr sz="1100" b="0">
                <a:solidFill>
                  <a:srgbClr val="6E7882"/>
                </a:solidFill>
                <a:latin typeface="Calibri"/>
              </a:rPr>
              <a:t>7</a:t>
            </a:r>
          </a:p>
        </p:txBody>
      </p:sp>
      <p:sp>
        <p:nvSpPr>
          <p:cNvPr id="6" name="TextBox 5"/>
          <p:cNvSpPr txBox="1"/>
          <p:nvPr/>
        </p:nvSpPr>
        <p:spPr>
          <a:xfrm>
            <a:off x="548640" y="6455664"/>
            <a:ext cx="7315200" cy="274320"/>
          </a:xfrm>
          <a:prstGeom prst="rect">
            <a:avLst/>
          </a:prstGeom>
          <a:noFill/>
        </p:spPr>
        <p:txBody>
          <a:bodyPr wrap="square" anchor="t" lIns="0" rIns="0" tIns="0" bIns="0">
            <a:spAutoFit/>
          </a:bodyPr>
          <a:lstStyle/>
          <a:p>
            <a:pPr algn="l">
              <a:lnSpc>
                <a:spcPct val="100000"/>
              </a:lnSpc>
              <a:spcAft>
                <a:spcPts val="400"/>
              </a:spcAft>
            </a:pPr>
            <a:r>
              <a:rPr sz="1000" b="0">
                <a:solidFill>
                  <a:srgbClr val="6E7882"/>
                </a:solidFill>
                <a:latin typeface="Calibri"/>
              </a:rPr>
              <a:t>NIH ChestX-ray14  ·  MSBA 645 Final Project</a:t>
            </a:r>
          </a:p>
        </p:txBody>
      </p:sp>
      <p:sp>
        <p:nvSpPr>
          <p:cNvPr id="7" name="Rectangle 6"/>
          <p:cNvSpPr/>
          <p:nvPr/>
        </p:nvSpPr>
        <p:spPr>
          <a:xfrm>
            <a:off x="493776" y="1646401"/>
            <a:ext cx="6876288" cy="4205277"/>
          </a:xfrm>
          <a:prstGeom prst="rect">
            <a:avLst/>
          </a:prstGeom>
          <a:solidFill>
            <a:srgbClr val="FFFFFF"/>
          </a:solidFill>
          <a:ln w="12700">
            <a:solidFill>
              <a:srgbClr val="DD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ogression.png"/>
          <p:cNvPicPr>
            <a:picLocks noChangeAspect="1"/>
          </p:cNvPicPr>
          <p:nvPr/>
        </p:nvPicPr>
        <p:blipFill>
          <a:blip r:embed="rId2"/>
          <a:stretch>
            <a:fillRect/>
          </a:stretch>
        </p:blipFill>
        <p:spPr>
          <a:xfrm>
            <a:off x="548640" y="1701265"/>
            <a:ext cx="6766560" cy="4095549"/>
          </a:xfrm>
          <a:prstGeom prst="rect">
            <a:avLst/>
          </a:prstGeom>
        </p:spPr>
      </p:pic>
      <p:sp>
        <p:nvSpPr>
          <p:cNvPr id="9" name="TextBox 8"/>
          <p:cNvSpPr txBox="1"/>
          <p:nvPr/>
        </p:nvSpPr>
        <p:spPr>
          <a:xfrm>
            <a:off x="7589520" y="1828800"/>
            <a:ext cx="4053535" cy="457200"/>
          </a:xfrm>
          <a:prstGeom prst="rect">
            <a:avLst/>
          </a:prstGeom>
          <a:noFill/>
        </p:spPr>
        <p:txBody>
          <a:bodyPr wrap="square" anchor="t" lIns="0" rIns="0" tIns="0" bIns="0">
            <a:spAutoFit/>
          </a:bodyPr>
          <a:lstStyle/>
          <a:p>
            <a:pPr algn="l">
              <a:lnSpc>
                <a:spcPct val="100000"/>
              </a:lnSpc>
              <a:spcAft>
                <a:spcPts val="400"/>
              </a:spcAft>
            </a:pPr>
            <a:r>
              <a:rPr sz="1500" b="1">
                <a:solidFill>
                  <a:srgbClr val="10495C"/>
                </a:solidFill>
                <a:latin typeface="Calibri"/>
              </a:rPr>
              <a:t>The deep-learning story</a:t>
            </a:r>
          </a:p>
        </p:txBody>
      </p:sp>
      <p:sp>
        <p:nvSpPr>
          <p:cNvPr id="10" name="TextBox 9"/>
          <p:cNvSpPr txBox="1"/>
          <p:nvPr/>
        </p:nvSpPr>
        <p:spPr>
          <a:xfrm>
            <a:off x="7589520" y="2331720"/>
            <a:ext cx="4053535" cy="3291840"/>
          </a:xfrm>
          <a:prstGeom prst="rect">
            <a:avLst/>
          </a:prstGeom>
          <a:noFill/>
        </p:spPr>
        <p:txBody>
          <a:bodyPr wrap="square" lIns="0" rIns="0" tIns="0" bIns="0">
            <a:spAutoFit/>
          </a:bodyPr>
          <a:lstStyle/>
          <a:p>
            <a:pPr>
              <a:lnSpc>
                <a:spcPct val="108000"/>
              </a:lnSpc>
              <a:spcAft>
                <a:spcPts val="800"/>
              </a:spcAft>
            </a:pPr>
            <a:r>
              <a:rPr sz="1400" b="1">
                <a:solidFill>
                  <a:srgbClr val="E07A33"/>
                </a:solidFill>
                <a:latin typeface="Calibri"/>
              </a:rPr>
              <a:t>•  </a:t>
            </a:r>
            <a:r>
              <a:rPr sz="1400">
                <a:solidFill>
                  <a:srgbClr val="222A30"/>
                </a:solidFill>
                <a:latin typeface="Calibri"/>
              </a:rPr>
              <a:t>A CNN built from scratch reaches only 0.64, with limited data it can't learn good features on its own.</a:t>
            </a:r>
          </a:p>
          <a:p>
            <a:pPr>
              <a:lnSpc>
                <a:spcPct val="108000"/>
              </a:lnSpc>
              <a:spcAft>
                <a:spcPts val="800"/>
              </a:spcAft>
            </a:pPr>
            <a:r>
              <a:rPr sz="1400" b="1">
                <a:solidFill>
                  <a:srgbClr val="E07A33"/>
                </a:solidFill>
                <a:latin typeface="Calibri"/>
              </a:rPr>
              <a:t>•  </a:t>
            </a:r>
            <a:r>
              <a:rPr sz="1400">
                <a:solidFill>
                  <a:srgbClr val="222A30"/>
                </a:solidFill>
                <a:latin typeface="Calibri"/>
              </a:rPr>
              <a:t>Transfer learning (reusing a pretrained network) jumps to 0.73, the big win.</a:t>
            </a:r>
          </a:p>
          <a:p>
            <a:pPr>
              <a:lnSpc>
                <a:spcPct val="108000"/>
              </a:lnSpc>
              <a:spcAft>
                <a:spcPts val="800"/>
              </a:spcAft>
            </a:pPr>
            <a:r>
              <a:rPr sz="1400" b="1">
                <a:solidFill>
                  <a:srgbClr val="E07A33"/>
                </a:solidFill>
                <a:latin typeface="Calibri"/>
              </a:rPr>
              <a:t>•  </a:t>
            </a:r>
            <a:r>
              <a:rPr sz="1400">
                <a:solidFill>
                  <a:srgbClr val="222A30"/>
                </a:solidFill>
                <a:latin typeface="Calibri"/>
              </a:rPr>
              <a:t>Fine-tuning the whole network nudges it to 0.74.</a:t>
            </a:r>
          </a:p>
        </p:txBody>
      </p:sp>
      <p:sp>
        <p:nvSpPr>
          <p:cNvPr id="11" name="Rounded Rectangle 10"/>
          <p:cNvSpPr/>
          <p:nvPr/>
        </p:nvSpPr>
        <p:spPr>
          <a:xfrm>
            <a:off x="7589520" y="4754880"/>
            <a:ext cx="4053535" cy="1234440"/>
          </a:xfrm>
          <a:prstGeom prst="roundRect">
            <a:avLst/>
          </a:prstGeom>
          <a:solidFill>
            <a:srgbClr val="EC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92040"/>
            <a:ext cx="3596335" cy="1005840"/>
          </a:xfrm>
          <a:prstGeom prst="rect">
            <a:avLst/>
          </a:prstGeom>
          <a:noFill/>
        </p:spPr>
        <p:txBody>
          <a:bodyPr wrap="square" anchor="t" lIns="0" rIns="0" tIns="0" bIns="0">
            <a:spAutoFit/>
          </a:bodyPr>
          <a:lstStyle/>
          <a:p>
            <a:pPr algn="l">
              <a:lnSpc>
                <a:spcPct val="105000"/>
              </a:lnSpc>
              <a:spcAft>
                <a:spcPts val="400"/>
              </a:spcAft>
            </a:pPr>
            <a:r>
              <a:rPr sz="1300" b="0">
                <a:solidFill>
                  <a:srgbClr val="222A30"/>
                </a:solidFill>
                <a:latin typeface="Calibri"/>
              </a:rPr>
              <a:t>This is the core deep-learning lesson: with limited data, standing on a pretrained network beats building one from scratch.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40080"/>
          </a:xfrm>
          <a:prstGeom prst="rect">
            <a:avLst/>
          </a:prstGeom>
          <a:noFill/>
        </p:spPr>
        <p:txBody>
          <a:bodyPr wrap="square" anchor="ctr" lIns="0" rIns="0" tIns="0" bIns="0">
            <a:spAutoFit/>
          </a:bodyPr>
          <a:lstStyle/>
          <a:p>
            <a:pPr algn="l">
              <a:lnSpc>
                <a:spcPct val="100000"/>
              </a:lnSpc>
              <a:spcAft>
                <a:spcPts val="400"/>
              </a:spcAft>
            </a:pPr>
            <a:r>
              <a:rPr sz="2600" b="1">
                <a:solidFill>
                  <a:srgbClr val="10495C"/>
                </a:solidFill>
                <a:latin typeface="Calibri"/>
              </a:rPr>
              <a:t>Our best model: how good is it?</a:t>
            </a:r>
          </a:p>
        </p:txBody>
      </p:sp>
      <p:sp>
        <p:nvSpPr>
          <p:cNvPr id="4" name="Rectangle 3"/>
          <p:cNvSpPr/>
          <p:nvPr/>
        </p:nvSpPr>
        <p:spPr>
          <a:xfrm>
            <a:off x="548640" y="1078992"/>
            <a:ext cx="1051560" cy="64008"/>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97135" y="6455664"/>
            <a:ext cx="1737360" cy="274320"/>
          </a:xfrm>
          <a:prstGeom prst="rect">
            <a:avLst/>
          </a:prstGeom>
          <a:noFill/>
        </p:spPr>
        <p:txBody>
          <a:bodyPr wrap="square" anchor="t" lIns="0" rIns="0" tIns="0" bIns="0">
            <a:spAutoFit/>
          </a:bodyPr>
          <a:lstStyle/>
          <a:p>
            <a:pPr algn="r">
              <a:lnSpc>
                <a:spcPct val="100000"/>
              </a:lnSpc>
              <a:spcAft>
                <a:spcPts val="400"/>
              </a:spcAft>
            </a:pPr>
            <a:r>
              <a:rPr sz="1100" b="0">
                <a:solidFill>
                  <a:srgbClr val="6E7882"/>
                </a:solidFill>
                <a:latin typeface="Calibri"/>
              </a:rPr>
              <a:t>8</a:t>
            </a:r>
          </a:p>
        </p:txBody>
      </p:sp>
      <p:sp>
        <p:nvSpPr>
          <p:cNvPr id="6" name="TextBox 5"/>
          <p:cNvSpPr txBox="1"/>
          <p:nvPr/>
        </p:nvSpPr>
        <p:spPr>
          <a:xfrm>
            <a:off x="548640" y="6455664"/>
            <a:ext cx="7315200" cy="274320"/>
          </a:xfrm>
          <a:prstGeom prst="rect">
            <a:avLst/>
          </a:prstGeom>
          <a:noFill/>
        </p:spPr>
        <p:txBody>
          <a:bodyPr wrap="square" anchor="t" lIns="0" rIns="0" tIns="0" bIns="0">
            <a:spAutoFit/>
          </a:bodyPr>
          <a:lstStyle/>
          <a:p>
            <a:pPr algn="l">
              <a:lnSpc>
                <a:spcPct val="100000"/>
              </a:lnSpc>
              <a:spcAft>
                <a:spcPts val="400"/>
              </a:spcAft>
            </a:pPr>
            <a:r>
              <a:rPr sz="1000" b="0">
                <a:solidFill>
                  <a:srgbClr val="6E7882"/>
                </a:solidFill>
                <a:latin typeface="Calibri"/>
              </a:rPr>
              <a:t>NIH ChestX-ray14  ·  MSBA 645 Final Project</a:t>
            </a:r>
          </a:p>
        </p:txBody>
      </p:sp>
      <p:sp>
        <p:nvSpPr>
          <p:cNvPr id="7" name="TextBox 6"/>
          <p:cNvSpPr txBox="1"/>
          <p:nvPr/>
        </p:nvSpPr>
        <p:spPr>
          <a:xfrm>
            <a:off x="548640" y="1463040"/>
            <a:ext cx="4754880" cy="457200"/>
          </a:xfrm>
          <a:prstGeom prst="rect">
            <a:avLst/>
          </a:prstGeom>
          <a:noFill/>
        </p:spPr>
        <p:txBody>
          <a:bodyPr wrap="square" anchor="t" lIns="0" rIns="0" tIns="0" bIns="0">
            <a:spAutoFit/>
          </a:bodyPr>
          <a:lstStyle/>
          <a:p>
            <a:pPr algn="l">
              <a:lnSpc>
                <a:spcPct val="100000"/>
              </a:lnSpc>
              <a:spcAft>
                <a:spcPts val="400"/>
              </a:spcAft>
            </a:pPr>
            <a:r>
              <a:rPr sz="1600" b="1">
                <a:solidFill>
                  <a:srgbClr val="10495C"/>
                </a:solidFill>
                <a:latin typeface="Calibri"/>
              </a:rPr>
              <a:t>The neural network</a:t>
            </a:r>
          </a:p>
        </p:txBody>
      </p:sp>
      <p:sp>
        <p:nvSpPr>
          <p:cNvPr id="8" name="Rounded Rectangle 7"/>
          <p:cNvSpPr/>
          <p:nvPr/>
        </p:nvSpPr>
        <p:spPr>
          <a:xfrm>
            <a:off x="548640" y="1965960"/>
            <a:ext cx="2194560" cy="1097280"/>
          </a:xfrm>
          <a:prstGeom prst="roundRect">
            <a:avLst/>
          </a:prstGeom>
          <a:solidFill>
            <a:srgbClr val="FFFFFF"/>
          </a:solidFill>
          <a:ln w="12700">
            <a:solidFill>
              <a:srgbClr val="DD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965960"/>
            <a:ext cx="2194560" cy="109728"/>
          </a:xfrm>
          <a:prstGeom prst="round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30552"/>
            <a:ext cx="2194560" cy="859536"/>
          </a:xfrm>
          <a:prstGeom prst="rect">
            <a:avLst/>
          </a:prstGeom>
          <a:noFill/>
        </p:spPr>
        <p:txBody>
          <a:bodyPr wrap="square" anchor="ctr" lIns="0" rIns="0" tIns="0" bIns="0">
            <a:spAutoFit/>
          </a:bodyPr>
          <a:lstStyle/>
          <a:p>
            <a:pPr algn="ctr">
              <a:lnSpc>
                <a:spcPct val="100000"/>
              </a:lnSpc>
              <a:spcAft>
                <a:spcPts val="400"/>
              </a:spcAft>
            </a:pPr>
            <a:r>
              <a:rPr sz="2800" b="1">
                <a:solidFill>
                  <a:srgbClr val="10495C"/>
                </a:solidFill>
                <a:latin typeface="Calibri"/>
              </a:rPr>
              <a:t>0.74</a:t>
            </a:r>
          </a:p>
          <a:p>
            <a:pPr algn="ctr">
              <a:lnSpc>
                <a:spcPct val="100000"/>
              </a:lnSpc>
              <a:spcAft>
                <a:spcPts val="400"/>
              </a:spcAft>
            </a:pPr>
            <a:r>
              <a:rPr sz="1250" b="0">
                <a:solidFill>
                  <a:srgbClr val="6E7882"/>
                </a:solidFill>
                <a:latin typeface="Calibri"/>
              </a:rPr>
              <a:t>Accuracy</a:t>
            </a:r>
          </a:p>
        </p:txBody>
      </p:sp>
      <p:sp>
        <p:nvSpPr>
          <p:cNvPr id="11" name="Rounded Rectangle 10"/>
          <p:cNvSpPr/>
          <p:nvPr/>
        </p:nvSpPr>
        <p:spPr>
          <a:xfrm>
            <a:off x="3017520" y="1965960"/>
            <a:ext cx="2194560" cy="1097280"/>
          </a:xfrm>
          <a:prstGeom prst="roundRect">
            <a:avLst/>
          </a:prstGeom>
          <a:solidFill>
            <a:srgbClr val="FFFFFF"/>
          </a:solidFill>
          <a:ln w="12700">
            <a:solidFill>
              <a:srgbClr val="DD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017520" y="1965960"/>
            <a:ext cx="2194560" cy="109728"/>
          </a:xfrm>
          <a:prstGeom prst="round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17520" y="2130552"/>
            <a:ext cx="2194560" cy="859536"/>
          </a:xfrm>
          <a:prstGeom prst="rect">
            <a:avLst/>
          </a:prstGeom>
          <a:noFill/>
        </p:spPr>
        <p:txBody>
          <a:bodyPr wrap="square" anchor="ctr" lIns="0" rIns="0" tIns="0" bIns="0">
            <a:spAutoFit/>
          </a:bodyPr>
          <a:lstStyle/>
          <a:p>
            <a:pPr algn="ctr">
              <a:lnSpc>
                <a:spcPct val="100000"/>
              </a:lnSpc>
              <a:spcAft>
                <a:spcPts val="400"/>
              </a:spcAft>
            </a:pPr>
            <a:r>
              <a:rPr sz="2800" b="1">
                <a:solidFill>
                  <a:srgbClr val="E07A33"/>
                </a:solidFill>
                <a:latin typeface="Calibri"/>
              </a:rPr>
              <a:t>0.73</a:t>
            </a:r>
          </a:p>
          <a:p>
            <a:pPr algn="ctr">
              <a:lnSpc>
                <a:spcPct val="100000"/>
              </a:lnSpc>
              <a:spcAft>
                <a:spcPts val="400"/>
              </a:spcAft>
            </a:pPr>
            <a:r>
              <a:rPr sz="1250" b="0">
                <a:solidFill>
                  <a:srgbClr val="6E7882"/>
                </a:solidFill>
                <a:latin typeface="Calibri"/>
              </a:rPr>
              <a:t>AUC</a:t>
            </a:r>
          </a:p>
        </p:txBody>
      </p:sp>
      <p:sp>
        <p:nvSpPr>
          <p:cNvPr id="14" name="TextBox 13"/>
          <p:cNvSpPr txBox="1"/>
          <p:nvPr/>
        </p:nvSpPr>
        <p:spPr>
          <a:xfrm>
            <a:off x="548640" y="3337560"/>
            <a:ext cx="4754880" cy="2377440"/>
          </a:xfrm>
          <a:prstGeom prst="rect">
            <a:avLst/>
          </a:prstGeom>
          <a:noFill/>
        </p:spPr>
        <p:txBody>
          <a:bodyPr wrap="square" anchor="t" lIns="0" rIns="0" tIns="0" bIns="0">
            <a:spAutoFit/>
          </a:bodyPr>
          <a:lstStyle/>
          <a:p>
            <a:pPr algn="l">
              <a:lnSpc>
                <a:spcPct val="110000"/>
              </a:lnSpc>
              <a:spcAft>
                <a:spcPts val="400"/>
              </a:spcAft>
            </a:pPr>
            <a:r>
              <a:rPr sz="1400" b="1">
                <a:solidFill>
                  <a:srgbClr val="10495C"/>
                </a:solidFill>
                <a:latin typeface="Calibri"/>
              </a:rPr>
              <a:t>Train vs. test</a:t>
            </a:r>
          </a:p>
          <a:p>
            <a:pPr algn="l">
              <a:lnSpc>
                <a:spcPct val="110000"/>
              </a:lnSpc>
              <a:spcAft>
                <a:spcPts val="400"/>
              </a:spcAft>
            </a:pPr>
            <a:r>
              <a:rPr sz="1450" b="0">
                <a:solidFill>
                  <a:srgbClr val="222A30"/>
                </a:solidFill>
                <a:latin typeface="Calibri"/>
              </a:rPr>
              <a:t>Accuracy:  0.75 on training,  0.74 on new data</a:t>
            </a:r>
          </a:p>
          <a:p>
            <a:pPr algn="l">
              <a:lnSpc>
                <a:spcPct val="110000"/>
              </a:lnSpc>
              <a:spcAft>
                <a:spcPts val="400"/>
              </a:spcAft>
            </a:pPr>
            <a:r>
              <a:rPr sz="1450" b="0">
                <a:solidFill>
                  <a:srgbClr val="222A30"/>
                </a:solidFill>
                <a:latin typeface="Calibri"/>
              </a:rPr>
              <a:t>AUC:  0.84 on training,  0.73 on new data</a:t>
            </a:r>
          </a:p>
          <a:p>
            <a:pPr algn="l">
              <a:lnSpc>
                <a:spcPct val="110000"/>
              </a:lnSpc>
              <a:spcAft>
                <a:spcPts val="400"/>
              </a:spcAft>
            </a:pPr>
            <a:r>
              <a:rPr sz="700" b="0">
                <a:solidFill>
                  <a:srgbClr val="222A30"/>
                </a:solidFill>
                <a:latin typeface="Calibri"/>
              </a:rPr>
              <a:t> </a:t>
            </a:r>
          </a:p>
          <a:p>
            <a:pPr algn="l">
              <a:lnSpc>
                <a:spcPct val="110000"/>
              </a:lnSpc>
              <a:spcAft>
                <a:spcPts val="400"/>
              </a:spcAft>
            </a:pPr>
            <a:r>
              <a:rPr sz="1350" b="0" i="1">
                <a:solidFill>
                  <a:srgbClr val="6E7882"/>
                </a:solidFill>
                <a:latin typeface="Calibri"/>
              </a:rPr>
              <a:t>The test numbers are close to training, so it’s genuinely learning, not just memorizing.</a:t>
            </a:r>
          </a:p>
        </p:txBody>
      </p:sp>
      <p:sp>
        <p:nvSpPr>
          <p:cNvPr id="15" name="Rectangle 14"/>
          <p:cNvSpPr/>
          <p:nvPr/>
        </p:nvSpPr>
        <p:spPr>
          <a:xfrm>
            <a:off x="6096087" y="1362456"/>
            <a:ext cx="5211600" cy="4864608"/>
          </a:xfrm>
          <a:prstGeom prst="rect">
            <a:avLst/>
          </a:prstGeom>
          <a:solidFill>
            <a:srgbClr val="FFFFFF"/>
          </a:solidFill>
          <a:ln w="12700">
            <a:solidFill>
              <a:srgbClr val="DD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onfusion.png"/>
          <p:cNvPicPr>
            <a:picLocks noChangeAspect="1"/>
          </p:cNvPicPr>
          <p:nvPr/>
        </p:nvPicPr>
        <p:blipFill>
          <a:blip r:embed="rId2"/>
          <a:stretch>
            <a:fillRect/>
          </a:stretch>
        </p:blipFill>
        <p:spPr>
          <a:xfrm>
            <a:off x="6150951" y="1417320"/>
            <a:ext cx="5101872" cy="47548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495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094415" cy="822960"/>
          </a:xfrm>
          <a:prstGeom prst="rect">
            <a:avLst/>
          </a:prstGeom>
          <a:noFill/>
        </p:spPr>
        <p:txBody>
          <a:bodyPr wrap="square" anchor="t" lIns="0" rIns="0" tIns="0" bIns="0">
            <a:spAutoFit/>
          </a:bodyPr>
          <a:lstStyle/>
          <a:p>
            <a:pPr algn="l">
              <a:lnSpc>
                <a:spcPct val="100000"/>
              </a:lnSpc>
              <a:spcAft>
                <a:spcPts val="400"/>
              </a:spcAft>
            </a:pPr>
            <a:r>
              <a:rPr sz="3200" b="1">
                <a:solidFill>
                  <a:srgbClr val="FFFFFF"/>
                </a:solidFill>
                <a:latin typeface="Calibri"/>
              </a:rPr>
              <a:t>Live demo</a:t>
            </a:r>
          </a:p>
        </p:txBody>
      </p:sp>
      <p:sp>
        <p:nvSpPr>
          <p:cNvPr id="4" name="Rectangle 3"/>
          <p:cNvSpPr/>
          <p:nvPr/>
        </p:nvSpPr>
        <p:spPr>
          <a:xfrm>
            <a:off x="548640" y="1371600"/>
            <a:ext cx="1188720" cy="73152"/>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00200"/>
            <a:ext cx="5212080" cy="4206240"/>
          </a:xfrm>
          <a:prstGeom prst="rect">
            <a:avLst/>
          </a:prstGeom>
          <a:noFill/>
        </p:spPr>
        <p:txBody>
          <a:bodyPr wrap="square" anchor="t" lIns="0" rIns="0" tIns="0" bIns="0">
            <a:spAutoFit/>
          </a:bodyPr>
          <a:lstStyle/>
          <a:p>
            <a:pPr algn="l">
              <a:lnSpc>
                <a:spcPct val="100000"/>
              </a:lnSpc>
              <a:spcAft>
                <a:spcPts val="400"/>
              </a:spcAft>
            </a:pPr>
            <a:r>
              <a:rPr sz="1700" b="1">
                <a:solidFill>
                  <a:srgbClr val="FFFFFF"/>
                </a:solidFill>
                <a:latin typeface="Calibri"/>
              </a:rPr>
              <a:t>We’ll open the app and try it live:</a:t>
            </a:r>
          </a:p>
          <a:p>
            <a:pPr algn="l">
              <a:lnSpc>
                <a:spcPct val="100000"/>
              </a:lnSpc>
              <a:spcAft>
                <a:spcPts val="400"/>
              </a:spcAft>
            </a:pPr>
            <a:r>
              <a:rPr sz="800" b="0">
                <a:solidFill>
                  <a:srgbClr val="FFFFFF"/>
                </a:solidFill>
                <a:latin typeface="Calibri"/>
              </a:rPr>
              <a:t> </a:t>
            </a:r>
          </a:p>
        </p:txBody>
      </p:sp>
      <p:sp>
        <p:nvSpPr>
          <p:cNvPr id="6" name="TextBox 5"/>
          <p:cNvSpPr txBox="1"/>
          <p:nvPr/>
        </p:nvSpPr>
        <p:spPr>
          <a:xfrm>
            <a:off x="548640" y="2286000"/>
            <a:ext cx="5120640" cy="3291840"/>
          </a:xfrm>
          <a:prstGeom prst="rect">
            <a:avLst/>
          </a:prstGeom>
          <a:noFill/>
        </p:spPr>
        <p:txBody>
          <a:bodyPr wrap="square" lIns="0" rIns="0" tIns="0" bIns="0">
            <a:spAutoFit/>
          </a:bodyPr>
          <a:lstStyle/>
          <a:p>
            <a:pPr>
              <a:lnSpc>
                <a:spcPct val="108000"/>
              </a:lnSpc>
              <a:spcAft>
                <a:spcPts val="800"/>
              </a:spcAft>
            </a:pPr>
            <a:r>
              <a:rPr sz="1550" b="1">
                <a:solidFill>
                  <a:srgbClr val="E07A33"/>
                </a:solidFill>
                <a:latin typeface="Calibri"/>
              </a:rPr>
              <a:t>•  </a:t>
            </a:r>
            <a:r>
              <a:rPr sz="1550">
                <a:solidFill>
                  <a:srgbClr val="FFFFFF"/>
                </a:solidFill>
                <a:latin typeface="Calibri"/>
              </a:rPr>
              <a:t>Upload a chest X-ray.</a:t>
            </a:r>
          </a:p>
          <a:p>
            <a:pPr>
              <a:lnSpc>
                <a:spcPct val="108000"/>
              </a:lnSpc>
              <a:spcAft>
                <a:spcPts val="800"/>
              </a:spcAft>
            </a:pPr>
            <a:r>
              <a:rPr sz="1550" b="1">
                <a:solidFill>
                  <a:srgbClr val="E07A33"/>
                </a:solidFill>
                <a:latin typeface="Calibri"/>
              </a:rPr>
              <a:t>•  </a:t>
            </a:r>
            <a:r>
              <a:rPr sz="1550">
                <a:solidFill>
                  <a:srgbClr val="FFFFFF"/>
                </a:solidFill>
                <a:latin typeface="Calibri"/>
              </a:rPr>
              <a:t>See the probability for each of the 14 conditions.</a:t>
            </a:r>
          </a:p>
          <a:p>
            <a:pPr>
              <a:lnSpc>
                <a:spcPct val="108000"/>
              </a:lnSpc>
              <a:spcAft>
                <a:spcPts val="800"/>
              </a:spcAft>
            </a:pPr>
            <a:r>
              <a:rPr sz="1550" b="1">
                <a:solidFill>
                  <a:srgbClr val="E07A33"/>
                </a:solidFill>
                <a:latin typeface="Calibri"/>
              </a:rPr>
              <a:t>•  </a:t>
            </a:r>
            <a:r>
              <a:rPr sz="1550">
                <a:solidFill>
                  <a:srgbClr val="FFFFFF"/>
                </a:solidFill>
                <a:latin typeface="Calibri"/>
              </a:rPr>
              <a:t>See which conditions it flags.</a:t>
            </a:r>
          </a:p>
          <a:p>
            <a:pPr>
              <a:lnSpc>
                <a:spcPct val="108000"/>
              </a:lnSpc>
              <a:spcAft>
                <a:spcPts val="800"/>
              </a:spcAft>
            </a:pPr>
            <a:r>
              <a:rPr sz="1550" b="1">
                <a:solidFill>
                  <a:srgbClr val="E07A33"/>
                </a:solidFill>
                <a:latin typeface="Calibri"/>
              </a:rPr>
              <a:t>•  </a:t>
            </a:r>
            <a:r>
              <a:rPr sz="1550">
                <a:solidFill>
                  <a:srgbClr val="FFFFFF"/>
                </a:solidFill>
                <a:latin typeface="Calibri"/>
              </a:rPr>
              <a:t>Look at the Grad-CAM heat map, where the model is looking.</a:t>
            </a:r>
          </a:p>
          <a:p>
            <a:pPr>
              <a:lnSpc>
                <a:spcPct val="108000"/>
              </a:lnSpc>
              <a:spcAft>
                <a:spcPts val="800"/>
              </a:spcAft>
            </a:pPr>
            <a:r>
              <a:rPr sz="1550" b="1">
                <a:solidFill>
                  <a:srgbClr val="E07A33"/>
                </a:solidFill>
                <a:latin typeface="Calibri"/>
              </a:rPr>
              <a:t>•  </a:t>
            </a:r>
            <a:r>
              <a:rPr sz="1550">
                <a:solidFill>
                  <a:srgbClr val="FFFFFF"/>
                </a:solidFill>
                <a:latin typeface="Calibri"/>
              </a:rPr>
              <a:t>Show one it gets right, and one it gets wrong.</a:t>
            </a:r>
          </a:p>
          <a:p>
            <a:pPr>
              <a:lnSpc>
                <a:spcPct val="108000"/>
              </a:lnSpc>
              <a:spcAft>
                <a:spcPts val="800"/>
              </a:spcAft>
            </a:pPr>
            <a:r>
              <a:rPr sz="1550" b="1">
                <a:solidFill>
                  <a:srgbClr val="E07A33"/>
                </a:solidFill>
                <a:latin typeface="Calibri"/>
              </a:rPr>
              <a:t>•  </a:t>
            </a:r>
            <a:r>
              <a:rPr sz="1550">
                <a:solidFill>
                  <a:srgbClr val="FFFFFF"/>
                </a:solidFill>
                <a:latin typeface="Calibri"/>
              </a:rPr>
              <a:t>Then switch to the Monitoring tab (next slide).</a:t>
            </a:r>
          </a:p>
        </p:txBody>
      </p:sp>
      <p:pic>
        <p:nvPicPr>
          <p:cNvPr id="7" name="Picture 6" descr="gradcam_correct.png"/>
          <p:cNvPicPr>
            <a:picLocks noChangeAspect="1"/>
          </p:cNvPicPr>
          <p:nvPr/>
        </p:nvPicPr>
        <p:blipFill>
          <a:blip r:embed="rId2"/>
          <a:stretch>
            <a:fillRect/>
          </a:stretch>
        </p:blipFill>
        <p:spPr>
          <a:xfrm>
            <a:off x="6126480" y="1711012"/>
            <a:ext cx="5516575" cy="1835775"/>
          </a:xfrm>
          <a:prstGeom prst="rect">
            <a:avLst/>
          </a:prstGeom>
        </p:spPr>
      </p:pic>
      <p:pic>
        <p:nvPicPr>
          <p:cNvPr id="8" name="Picture 7" descr="gradcam_wrong.png"/>
          <p:cNvPicPr>
            <a:picLocks noChangeAspect="1"/>
          </p:cNvPicPr>
          <p:nvPr/>
        </p:nvPicPr>
        <p:blipFill>
          <a:blip r:embed="rId3"/>
          <a:stretch>
            <a:fillRect/>
          </a:stretch>
        </p:blipFill>
        <p:spPr>
          <a:xfrm>
            <a:off x="6785908" y="3794760"/>
            <a:ext cx="4197717" cy="2057400"/>
          </a:xfrm>
          <a:prstGeom prst="rect">
            <a:avLst/>
          </a:prstGeom>
        </p:spPr>
      </p:pic>
      <p:sp>
        <p:nvSpPr>
          <p:cNvPr id="9" name="TextBox 8"/>
          <p:cNvSpPr txBox="1"/>
          <p:nvPr/>
        </p:nvSpPr>
        <p:spPr>
          <a:xfrm>
            <a:off x="6126480" y="5897880"/>
            <a:ext cx="5516575" cy="365760"/>
          </a:xfrm>
          <a:prstGeom prst="rect">
            <a:avLst/>
          </a:prstGeom>
          <a:noFill/>
        </p:spPr>
        <p:txBody>
          <a:bodyPr wrap="square" anchor="t" lIns="0" rIns="0" tIns="0" bIns="0">
            <a:spAutoFit/>
          </a:bodyPr>
          <a:lstStyle/>
          <a:p>
            <a:pPr algn="ctr">
              <a:lnSpc>
                <a:spcPct val="100000"/>
              </a:lnSpc>
              <a:spcAft>
                <a:spcPts val="400"/>
              </a:spcAft>
            </a:pPr>
            <a:r>
              <a:rPr sz="1150" b="0" i="1">
                <a:solidFill>
                  <a:srgbClr val="CFE0E4"/>
                </a:solidFill>
                <a:latin typeface="Calibri"/>
              </a:rPr>
              <a:t>Heat maps from the app (backup if the live demo can’t run).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40080"/>
          </a:xfrm>
          <a:prstGeom prst="rect">
            <a:avLst/>
          </a:prstGeom>
          <a:noFill/>
        </p:spPr>
        <p:txBody>
          <a:bodyPr wrap="square" anchor="ctr" lIns="0" rIns="0" tIns="0" bIns="0">
            <a:spAutoFit/>
          </a:bodyPr>
          <a:lstStyle/>
          <a:p>
            <a:pPr algn="l">
              <a:lnSpc>
                <a:spcPct val="100000"/>
              </a:lnSpc>
              <a:spcAft>
                <a:spcPts val="400"/>
              </a:spcAft>
            </a:pPr>
            <a:r>
              <a:rPr sz="2600" b="1">
                <a:solidFill>
                  <a:srgbClr val="10495C"/>
                </a:solidFill>
                <a:latin typeface="Calibri"/>
              </a:rPr>
              <a:t>From demo to product: monitoring</a:t>
            </a:r>
          </a:p>
        </p:txBody>
      </p:sp>
      <p:sp>
        <p:nvSpPr>
          <p:cNvPr id="4" name="Rectangle 3"/>
          <p:cNvSpPr/>
          <p:nvPr/>
        </p:nvSpPr>
        <p:spPr>
          <a:xfrm>
            <a:off x="548640" y="1078992"/>
            <a:ext cx="1051560" cy="64008"/>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97135" y="6455664"/>
            <a:ext cx="1737360" cy="274320"/>
          </a:xfrm>
          <a:prstGeom prst="rect">
            <a:avLst/>
          </a:prstGeom>
          <a:noFill/>
        </p:spPr>
        <p:txBody>
          <a:bodyPr wrap="square" anchor="t" lIns="0" rIns="0" tIns="0" bIns="0">
            <a:spAutoFit/>
          </a:bodyPr>
          <a:lstStyle/>
          <a:p>
            <a:pPr algn="r">
              <a:lnSpc>
                <a:spcPct val="100000"/>
              </a:lnSpc>
              <a:spcAft>
                <a:spcPts val="400"/>
              </a:spcAft>
            </a:pPr>
            <a:r>
              <a:rPr sz="1100" b="0">
                <a:solidFill>
                  <a:srgbClr val="6E7882"/>
                </a:solidFill>
                <a:latin typeface="Calibri"/>
              </a:rPr>
              <a:t>9</a:t>
            </a:r>
          </a:p>
        </p:txBody>
      </p:sp>
      <p:sp>
        <p:nvSpPr>
          <p:cNvPr id="6" name="TextBox 5"/>
          <p:cNvSpPr txBox="1"/>
          <p:nvPr/>
        </p:nvSpPr>
        <p:spPr>
          <a:xfrm>
            <a:off x="548640" y="6455664"/>
            <a:ext cx="7315200" cy="274320"/>
          </a:xfrm>
          <a:prstGeom prst="rect">
            <a:avLst/>
          </a:prstGeom>
          <a:noFill/>
        </p:spPr>
        <p:txBody>
          <a:bodyPr wrap="square" anchor="t" lIns="0" rIns="0" tIns="0" bIns="0">
            <a:spAutoFit/>
          </a:bodyPr>
          <a:lstStyle/>
          <a:p>
            <a:pPr algn="l">
              <a:lnSpc>
                <a:spcPct val="100000"/>
              </a:lnSpc>
              <a:spcAft>
                <a:spcPts val="400"/>
              </a:spcAft>
            </a:pPr>
            <a:r>
              <a:rPr sz="1000" b="0">
                <a:solidFill>
                  <a:srgbClr val="6E7882"/>
                </a:solidFill>
                <a:latin typeface="Calibri"/>
              </a:rPr>
              <a:t>NIH ChestX-ray14  ·  MSBA 645 Final Project</a:t>
            </a:r>
          </a:p>
        </p:txBody>
      </p:sp>
      <p:sp>
        <p:nvSpPr>
          <p:cNvPr id="7" name="TextBox 6"/>
          <p:cNvSpPr txBox="1"/>
          <p:nvPr/>
        </p:nvSpPr>
        <p:spPr>
          <a:xfrm>
            <a:off x="548640" y="1417320"/>
            <a:ext cx="11094415" cy="777240"/>
          </a:xfrm>
          <a:prstGeom prst="rect">
            <a:avLst/>
          </a:prstGeom>
          <a:noFill/>
        </p:spPr>
        <p:txBody>
          <a:bodyPr wrap="square" anchor="t" lIns="0" rIns="0" tIns="0" bIns="0">
            <a:spAutoFit/>
          </a:bodyPr>
          <a:lstStyle/>
          <a:p>
            <a:pPr algn="l">
              <a:lnSpc>
                <a:spcPct val="100000"/>
              </a:lnSpc>
              <a:spcAft>
                <a:spcPts val="400"/>
              </a:spcAft>
            </a:pPr>
            <a:r>
              <a:rPr sz="1600" b="0">
                <a:solidFill>
                  <a:srgbClr val="222A30"/>
                </a:solidFill>
                <a:latin typeface="Calibri"/>
              </a:rPr>
              <a:t>The app doesn’t just predict, it keeps a record. Every classification is logged, so you can watch the model across many cases, not just one image.</a:t>
            </a:r>
          </a:p>
        </p:txBody>
      </p:sp>
      <p:sp>
        <p:nvSpPr>
          <p:cNvPr id="8" name="Rounded Rectangle 7"/>
          <p:cNvSpPr/>
          <p:nvPr/>
        </p:nvSpPr>
        <p:spPr>
          <a:xfrm>
            <a:off x="548640" y="2423160"/>
            <a:ext cx="2331720" cy="1234440"/>
          </a:xfrm>
          <a:prstGeom prst="round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423160"/>
            <a:ext cx="2331720" cy="1234440"/>
          </a:xfrm>
          <a:prstGeom prst="rect">
            <a:avLst/>
          </a:prstGeom>
          <a:noFill/>
        </p:spPr>
        <p:txBody>
          <a:bodyPr wrap="square" anchor="ctr" lIns="0" rIns="0" tIns="0" bIns="0">
            <a:spAutoFit/>
          </a:bodyPr>
          <a:lstStyle/>
          <a:p>
            <a:pPr algn="ctr">
              <a:lnSpc>
                <a:spcPct val="100000"/>
              </a:lnSpc>
              <a:spcAft>
                <a:spcPts val="400"/>
              </a:spcAft>
            </a:pPr>
            <a:r>
              <a:rPr sz="1450" b="1">
                <a:solidFill>
                  <a:srgbClr val="FFFFFF"/>
                </a:solidFill>
                <a:latin typeface="Calibri"/>
              </a:rPr>
              <a:t>Classify
an X-ray</a:t>
            </a:r>
          </a:p>
        </p:txBody>
      </p:sp>
      <p:sp>
        <p:nvSpPr>
          <p:cNvPr id="10" name="Chevron 9"/>
          <p:cNvSpPr/>
          <p:nvPr/>
        </p:nvSpPr>
        <p:spPr>
          <a:xfrm>
            <a:off x="3010357" y="2875788"/>
            <a:ext cx="329184" cy="329184"/>
          </a:xfrm>
          <a:prstGeom prst="chevron">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69538" y="2423160"/>
            <a:ext cx="2331720" cy="1234440"/>
          </a:xfrm>
          <a:prstGeom prst="roundRect">
            <a:avLst/>
          </a:prstGeom>
          <a:solidFill>
            <a:srgbClr val="1C6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69538" y="2423160"/>
            <a:ext cx="2331720" cy="1234440"/>
          </a:xfrm>
          <a:prstGeom prst="rect">
            <a:avLst/>
          </a:prstGeom>
          <a:noFill/>
        </p:spPr>
        <p:txBody>
          <a:bodyPr wrap="square" anchor="ctr" lIns="0" rIns="0" tIns="0" bIns="0">
            <a:spAutoFit/>
          </a:bodyPr>
          <a:lstStyle/>
          <a:p>
            <a:pPr algn="ctr">
              <a:lnSpc>
                <a:spcPct val="100000"/>
              </a:lnSpc>
              <a:spcAft>
                <a:spcPts val="400"/>
              </a:spcAft>
            </a:pPr>
            <a:r>
              <a:rPr sz="1450" b="1">
                <a:solidFill>
                  <a:srgbClr val="FFFFFF"/>
                </a:solidFill>
                <a:latin typeface="Calibri"/>
              </a:rPr>
              <a:t>Log every
prediction (CSV)</a:t>
            </a:r>
          </a:p>
        </p:txBody>
      </p:sp>
      <p:sp>
        <p:nvSpPr>
          <p:cNvPr id="13" name="Chevron 12"/>
          <p:cNvSpPr/>
          <p:nvPr/>
        </p:nvSpPr>
        <p:spPr>
          <a:xfrm>
            <a:off x="5931255" y="2875788"/>
            <a:ext cx="329184" cy="329184"/>
          </a:xfrm>
          <a:prstGeom prst="chevron">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90436" y="2423160"/>
            <a:ext cx="2331720" cy="1234440"/>
          </a:xfrm>
          <a:prstGeom prst="roundRect">
            <a:avLst/>
          </a:prstGeom>
          <a:solidFill>
            <a:srgbClr val="1C6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0436" y="2423160"/>
            <a:ext cx="2331720" cy="1234440"/>
          </a:xfrm>
          <a:prstGeom prst="rect">
            <a:avLst/>
          </a:prstGeom>
          <a:noFill/>
        </p:spPr>
        <p:txBody>
          <a:bodyPr wrap="square" anchor="ctr" lIns="0" rIns="0" tIns="0" bIns="0">
            <a:spAutoFit/>
          </a:bodyPr>
          <a:lstStyle/>
          <a:p>
            <a:pPr algn="ctr">
              <a:lnSpc>
                <a:spcPct val="100000"/>
              </a:lnSpc>
              <a:spcAft>
                <a:spcPts val="400"/>
              </a:spcAft>
            </a:pPr>
            <a:r>
              <a:rPr sz="1450" b="1">
                <a:solidFill>
                  <a:srgbClr val="FFFFFF"/>
                </a:solidFill>
                <a:latin typeface="Calibri"/>
              </a:rPr>
              <a:t>Monitoring
dashboard</a:t>
            </a:r>
          </a:p>
        </p:txBody>
      </p:sp>
      <p:sp>
        <p:nvSpPr>
          <p:cNvPr id="16" name="Chevron 15"/>
          <p:cNvSpPr/>
          <p:nvPr/>
        </p:nvSpPr>
        <p:spPr>
          <a:xfrm>
            <a:off x="8852154" y="2875788"/>
            <a:ext cx="329184" cy="329184"/>
          </a:xfrm>
          <a:prstGeom prst="chevron">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11335" y="2423160"/>
            <a:ext cx="2331720" cy="1234440"/>
          </a:xfrm>
          <a:prstGeom prst="round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11335" y="2423160"/>
            <a:ext cx="2331720" cy="1234440"/>
          </a:xfrm>
          <a:prstGeom prst="rect">
            <a:avLst/>
          </a:prstGeom>
          <a:noFill/>
        </p:spPr>
        <p:txBody>
          <a:bodyPr wrap="square" anchor="ctr" lIns="0" rIns="0" tIns="0" bIns="0">
            <a:spAutoFit/>
          </a:bodyPr>
          <a:lstStyle/>
          <a:p>
            <a:pPr algn="ctr">
              <a:lnSpc>
                <a:spcPct val="100000"/>
              </a:lnSpc>
              <a:spcAft>
                <a:spcPts val="400"/>
              </a:spcAft>
            </a:pPr>
            <a:r>
              <a:rPr sz="1450" b="1">
                <a:solidFill>
                  <a:srgbClr val="FFFFFF"/>
                </a:solidFill>
                <a:latin typeface="Calibri"/>
              </a:rPr>
              <a:t>or Power BI /
Sheets</a:t>
            </a:r>
          </a:p>
        </p:txBody>
      </p:sp>
      <p:sp>
        <p:nvSpPr>
          <p:cNvPr id="19" name="TextBox 18"/>
          <p:cNvSpPr txBox="1"/>
          <p:nvPr/>
        </p:nvSpPr>
        <p:spPr>
          <a:xfrm>
            <a:off x="548640" y="4023360"/>
            <a:ext cx="11094415" cy="457200"/>
          </a:xfrm>
          <a:prstGeom prst="rect">
            <a:avLst/>
          </a:prstGeom>
          <a:noFill/>
        </p:spPr>
        <p:txBody>
          <a:bodyPr wrap="square" anchor="t" lIns="0" rIns="0" tIns="0" bIns="0">
            <a:spAutoFit/>
          </a:bodyPr>
          <a:lstStyle/>
          <a:p>
            <a:pPr algn="l">
              <a:lnSpc>
                <a:spcPct val="100000"/>
              </a:lnSpc>
              <a:spcAft>
                <a:spcPts val="400"/>
              </a:spcAft>
            </a:pPr>
            <a:r>
              <a:rPr sz="1500" b="1">
                <a:solidFill>
                  <a:srgbClr val="10495C"/>
                </a:solidFill>
                <a:latin typeface="Calibri"/>
              </a:rPr>
              <a:t>What the dashboard tracks</a:t>
            </a:r>
          </a:p>
        </p:txBody>
      </p:sp>
      <p:sp>
        <p:nvSpPr>
          <p:cNvPr id="20" name="TextBox 19"/>
          <p:cNvSpPr txBox="1"/>
          <p:nvPr/>
        </p:nvSpPr>
        <p:spPr>
          <a:xfrm>
            <a:off x="548640" y="4526280"/>
            <a:ext cx="5181447" cy="1463040"/>
          </a:xfrm>
          <a:prstGeom prst="rect">
            <a:avLst/>
          </a:prstGeom>
          <a:noFill/>
        </p:spPr>
        <p:txBody>
          <a:bodyPr wrap="square" lIns="0" rIns="0" tIns="0" bIns="0">
            <a:spAutoFit/>
          </a:bodyPr>
          <a:lstStyle/>
          <a:p>
            <a:pPr>
              <a:lnSpc>
                <a:spcPct val="108000"/>
              </a:lnSpc>
              <a:spcAft>
                <a:spcPts val="800"/>
              </a:spcAft>
            </a:pPr>
            <a:r>
              <a:rPr sz="1350" b="1">
                <a:solidFill>
                  <a:srgbClr val="E07A33"/>
                </a:solidFill>
                <a:latin typeface="Calibri"/>
              </a:rPr>
              <a:t>•  </a:t>
            </a:r>
            <a:r>
              <a:rPr sz="1350">
                <a:solidFill>
                  <a:srgbClr val="222A30"/>
                </a:solidFill>
                <a:latin typeface="Calibri"/>
              </a:rPr>
              <a:t>How often each of the 14 conditions gets flagged.</a:t>
            </a:r>
          </a:p>
          <a:p>
            <a:pPr>
              <a:lnSpc>
                <a:spcPct val="108000"/>
              </a:lnSpc>
              <a:spcAft>
                <a:spcPts val="800"/>
              </a:spcAft>
            </a:pPr>
            <a:r>
              <a:rPr sz="1350" b="1">
                <a:solidFill>
                  <a:srgbClr val="E07A33"/>
                </a:solidFill>
                <a:latin typeface="Calibri"/>
              </a:rPr>
              <a:t>•  </a:t>
            </a:r>
            <a:r>
              <a:rPr sz="1350">
                <a:solidFill>
                  <a:srgbClr val="222A30"/>
                </a:solidFill>
                <a:latin typeface="Calibri"/>
              </a:rPr>
              <a:t>The spread of the model’s confidence.</a:t>
            </a:r>
          </a:p>
        </p:txBody>
      </p:sp>
      <p:sp>
        <p:nvSpPr>
          <p:cNvPr id="21" name="TextBox 20"/>
          <p:cNvSpPr txBox="1"/>
          <p:nvPr/>
        </p:nvSpPr>
        <p:spPr>
          <a:xfrm>
            <a:off x="6278727" y="4526280"/>
            <a:ext cx="5181447" cy="1463040"/>
          </a:xfrm>
          <a:prstGeom prst="rect">
            <a:avLst/>
          </a:prstGeom>
          <a:noFill/>
        </p:spPr>
        <p:txBody>
          <a:bodyPr wrap="square" lIns="0" rIns="0" tIns="0" bIns="0">
            <a:spAutoFit/>
          </a:bodyPr>
          <a:lstStyle/>
          <a:p>
            <a:pPr>
              <a:lnSpc>
                <a:spcPct val="108000"/>
              </a:lnSpc>
              <a:spcAft>
                <a:spcPts val="800"/>
              </a:spcAft>
            </a:pPr>
            <a:r>
              <a:rPr sz="1350" b="1">
                <a:solidFill>
                  <a:srgbClr val="E07A33"/>
                </a:solidFill>
                <a:latin typeface="Calibri"/>
              </a:rPr>
              <a:t>•  </a:t>
            </a:r>
            <a:r>
              <a:rPr sz="1350">
                <a:solidFill>
                  <a:srgbClr val="222A30"/>
                </a:solidFill>
                <a:latin typeface="Calibri"/>
              </a:rPr>
              <a:t>Most recent cases, at a glance.</a:t>
            </a:r>
          </a:p>
          <a:p>
            <a:pPr>
              <a:lnSpc>
                <a:spcPct val="108000"/>
              </a:lnSpc>
              <a:spcAft>
                <a:spcPts val="800"/>
              </a:spcAft>
            </a:pPr>
            <a:r>
              <a:rPr sz="1350" b="1">
                <a:solidFill>
                  <a:srgbClr val="E07A33"/>
                </a:solidFill>
                <a:latin typeface="Calibri"/>
              </a:rPr>
              <a:t>•  </a:t>
            </a:r>
            <a:r>
              <a:rPr sz="1350">
                <a:solidFill>
                  <a:srgbClr val="222A30"/>
                </a:solidFill>
                <a:latin typeface="Calibri"/>
              </a:rPr>
              <a:t>User feedback: a “looks right / looks off” tap on each prediction.</a:t>
            </a:r>
          </a:p>
        </p:txBody>
      </p:sp>
      <p:sp>
        <p:nvSpPr>
          <p:cNvPr id="22" name="Rounded Rectangle 21"/>
          <p:cNvSpPr/>
          <p:nvPr/>
        </p:nvSpPr>
        <p:spPr>
          <a:xfrm>
            <a:off x="548640" y="5806440"/>
            <a:ext cx="11094415" cy="640080"/>
          </a:xfrm>
          <a:prstGeom prst="roundRect">
            <a:avLst/>
          </a:prstGeom>
          <a:solidFill>
            <a:srgbClr val="EC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5806440"/>
            <a:ext cx="10545775" cy="640080"/>
          </a:xfrm>
          <a:prstGeom prst="rect">
            <a:avLst/>
          </a:prstGeom>
          <a:noFill/>
        </p:spPr>
        <p:txBody>
          <a:bodyPr wrap="square" anchor="ctr" lIns="0" rIns="0" tIns="0" bIns="0">
            <a:spAutoFit/>
          </a:bodyPr>
          <a:lstStyle/>
          <a:p>
            <a:pPr algn="l">
              <a:lnSpc>
                <a:spcPct val="103000"/>
              </a:lnSpc>
              <a:spcAft>
                <a:spcPts val="400"/>
              </a:spcAft>
            </a:pPr>
            <a:r>
              <a:rPr sz="1300" b="1">
                <a:solidFill>
                  <a:srgbClr val="10495C"/>
                </a:solidFill>
                <a:latin typeface="Calibri"/>
              </a:rPr>
              <a:t>Why it matters:  </a:t>
            </a:r>
            <a:r>
              <a:rPr sz="1300" b="0">
                <a:solidFill>
                  <a:srgbClr val="222A30"/>
                </a:solidFill>
                <a:latin typeface="Calibri"/>
              </a:rPr>
              <a:t>one prediction is a demo; logging turns it into something you can actually monitor in use. The same CSV is the single source any BI tool can read.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40080"/>
          </a:xfrm>
          <a:prstGeom prst="rect">
            <a:avLst/>
          </a:prstGeom>
          <a:noFill/>
        </p:spPr>
        <p:txBody>
          <a:bodyPr wrap="square" anchor="ctr" lIns="0" rIns="0" tIns="0" bIns="0">
            <a:spAutoFit/>
          </a:bodyPr>
          <a:lstStyle/>
          <a:p>
            <a:pPr algn="l">
              <a:lnSpc>
                <a:spcPct val="100000"/>
              </a:lnSpc>
              <a:spcAft>
                <a:spcPts val="400"/>
              </a:spcAft>
            </a:pPr>
            <a:r>
              <a:rPr sz="2600" b="1">
                <a:solidFill>
                  <a:srgbClr val="10495C"/>
                </a:solidFill>
                <a:latin typeface="Calibri"/>
              </a:rPr>
              <a:t>What we learned</a:t>
            </a:r>
          </a:p>
        </p:txBody>
      </p:sp>
      <p:sp>
        <p:nvSpPr>
          <p:cNvPr id="4" name="Rectangle 3"/>
          <p:cNvSpPr/>
          <p:nvPr/>
        </p:nvSpPr>
        <p:spPr>
          <a:xfrm>
            <a:off x="548640" y="1078992"/>
            <a:ext cx="1051560" cy="64008"/>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97135" y="6455664"/>
            <a:ext cx="1737360" cy="274320"/>
          </a:xfrm>
          <a:prstGeom prst="rect">
            <a:avLst/>
          </a:prstGeom>
          <a:noFill/>
        </p:spPr>
        <p:txBody>
          <a:bodyPr wrap="square" anchor="t" lIns="0" rIns="0" tIns="0" bIns="0">
            <a:spAutoFit/>
          </a:bodyPr>
          <a:lstStyle/>
          <a:p>
            <a:pPr algn="r">
              <a:lnSpc>
                <a:spcPct val="100000"/>
              </a:lnSpc>
              <a:spcAft>
                <a:spcPts val="400"/>
              </a:spcAft>
            </a:pPr>
            <a:r>
              <a:rPr sz="1100" b="0">
                <a:solidFill>
                  <a:srgbClr val="6E7882"/>
                </a:solidFill>
                <a:latin typeface="Calibri"/>
              </a:rPr>
              <a:t>10</a:t>
            </a:r>
          </a:p>
        </p:txBody>
      </p:sp>
      <p:sp>
        <p:nvSpPr>
          <p:cNvPr id="6" name="TextBox 5"/>
          <p:cNvSpPr txBox="1"/>
          <p:nvPr/>
        </p:nvSpPr>
        <p:spPr>
          <a:xfrm>
            <a:off x="548640" y="6455664"/>
            <a:ext cx="7315200" cy="274320"/>
          </a:xfrm>
          <a:prstGeom prst="rect">
            <a:avLst/>
          </a:prstGeom>
          <a:noFill/>
        </p:spPr>
        <p:txBody>
          <a:bodyPr wrap="square" anchor="t" lIns="0" rIns="0" tIns="0" bIns="0">
            <a:spAutoFit/>
          </a:bodyPr>
          <a:lstStyle/>
          <a:p>
            <a:pPr algn="l">
              <a:lnSpc>
                <a:spcPct val="100000"/>
              </a:lnSpc>
              <a:spcAft>
                <a:spcPts val="400"/>
              </a:spcAft>
            </a:pPr>
            <a:r>
              <a:rPr sz="1000" b="0">
                <a:solidFill>
                  <a:srgbClr val="6E7882"/>
                </a:solidFill>
                <a:latin typeface="Calibri"/>
              </a:rPr>
              <a:t>NIH ChestX-ray14  ·  MSBA 645 Final Project</a:t>
            </a:r>
          </a:p>
        </p:txBody>
      </p:sp>
      <p:sp>
        <p:nvSpPr>
          <p:cNvPr id="7" name="Rounded Rectangle 6"/>
          <p:cNvSpPr/>
          <p:nvPr/>
        </p:nvSpPr>
        <p:spPr>
          <a:xfrm>
            <a:off x="548640" y="1463040"/>
            <a:ext cx="5364327" cy="502920"/>
          </a:xfrm>
          <a:prstGeom prst="round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63040"/>
            <a:ext cx="5364327" cy="502920"/>
          </a:xfrm>
          <a:prstGeom prst="rect">
            <a:avLst/>
          </a:prstGeom>
          <a:noFill/>
        </p:spPr>
        <p:txBody>
          <a:bodyPr wrap="square" anchor="ctr" lIns="0" rIns="0" tIns="0" bIns="0">
            <a:spAutoFit/>
          </a:bodyPr>
          <a:lstStyle/>
          <a:p>
            <a:pPr algn="ctr">
              <a:lnSpc>
                <a:spcPct val="100000"/>
              </a:lnSpc>
              <a:spcAft>
                <a:spcPts val="400"/>
              </a:spcAft>
            </a:pPr>
            <a:r>
              <a:rPr sz="1500" b="1">
                <a:solidFill>
                  <a:srgbClr val="FFFFFF"/>
                </a:solidFill>
                <a:latin typeface="Calibri"/>
              </a:rPr>
              <a:t>What worked</a:t>
            </a:r>
          </a:p>
        </p:txBody>
      </p:sp>
      <p:sp>
        <p:nvSpPr>
          <p:cNvPr id="9" name="TextBox 8"/>
          <p:cNvSpPr txBox="1"/>
          <p:nvPr/>
        </p:nvSpPr>
        <p:spPr>
          <a:xfrm>
            <a:off x="685800" y="2194560"/>
            <a:ext cx="5090007" cy="2743200"/>
          </a:xfrm>
          <a:prstGeom prst="rect">
            <a:avLst/>
          </a:prstGeom>
          <a:noFill/>
        </p:spPr>
        <p:txBody>
          <a:bodyPr wrap="square" lIns="0" rIns="0" tIns="0" bIns="0">
            <a:spAutoFit/>
          </a:bodyPr>
          <a:lstStyle/>
          <a:p>
            <a:pPr>
              <a:lnSpc>
                <a:spcPct val="108000"/>
              </a:lnSpc>
              <a:spcAft>
                <a:spcPts val="700"/>
              </a:spcAft>
            </a:pPr>
            <a:r>
              <a:rPr sz="1350" b="1">
                <a:solidFill>
                  <a:srgbClr val="2E7D4F"/>
                </a:solidFill>
                <a:latin typeface="Calibri"/>
              </a:rPr>
              <a:t>•  </a:t>
            </a:r>
            <a:r>
              <a:rPr sz="1350">
                <a:solidFill>
                  <a:srgbClr val="222A30"/>
                </a:solidFill>
                <a:latin typeface="Calibri"/>
              </a:rPr>
              <a:t>Telling the model to pay attention to rare cases (instead of ignoring them).</a:t>
            </a:r>
          </a:p>
          <a:p>
            <a:pPr>
              <a:lnSpc>
                <a:spcPct val="108000"/>
              </a:lnSpc>
              <a:spcAft>
                <a:spcPts val="700"/>
              </a:spcAft>
            </a:pPr>
            <a:r>
              <a:rPr sz="1350" b="1">
                <a:solidFill>
                  <a:srgbClr val="2E7D4F"/>
                </a:solidFill>
                <a:latin typeface="Calibri"/>
              </a:rPr>
              <a:t>•  </a:t>
            </a:r>
            <a:r>
              <a:rPr sz="1350">
                <a:solidFill>
                  <a:srgbClr val="222A30"/>
                </a:solidFill>
                <a:latin typeface="Calibri"/>
              </a:rPr>
              <a:t>Preparing the images the way the network expects.</a:t>
            </a:r>
          </a:p>
          <a:p>
            <a:pPr>
              <a:lnSpc>
                <a:spcPct val="108000"/>
              </a:lnSpc>
              <a:spcAft>
                <a:spcPts val="700"/>
              </a:spcAft>
            </a:pPr>
            <a:r>
              <a:rPr sz="1350" b="1">
                <a:solidFill>
                  <a:srgbClr val="2E7D4F"/>
                </a:solidFill>
                <a:latin typeface="Calibri"/>
              </a:rPr>
              <a:t>•  </a:t>
            </a:r>
            <a:r>
              <a:rPr sz="1350">
                <a:solidFill>
                  <a:srgbClr val="222A30"/>
                </a:solidFill>
                <a:latin typeface="Calibri"/>
              </a:rPr>
              <a:t>Checking AUC and recall, not just accuracy.</a:t>
            </a:r>
          </a:p>
          <a:p>
            <a:pPr>
              <a:lnSpc>
                <a:spcPct val="108000"/>
              </a:lnSpc>
              <a:spcAft>
                <a:spcPts val="700"/>
              </a:spcAft>
            </a:pPr>
            <a:r>
              <a:rPr sz="1350" b="1">
                <a:solidFill>
                  <a:srgbClr val="2E7D4F"/>
                </a:solidFill>
                <a:latin typeface="Calibri"/>
              </a:rPr>
              <a:t>•  </a:t>
            </a:r>
            <a:r>
              <a:rPr sz="1350">
                <a:solidFill>
                  <a:srgbClr val="222A30"/>
                </a:solidFill>
                <a:latin typeface="Calibri"/>
              </a:rPr>
              <a:t>Grad-CAM showed it looks at the lungs, not the background.</a:t>
            </a:r>
          </a:p>
        </p:txBody>
      </p:sp>
      <p:sp>
        <p:nvSpPr>
          <p:cNvPr id="10" name="Rounded Rectangle 9"/>
          <p:cNvSpPr/>
          <p:nvPr/>
        </p:nvSpPr>
        <p:spPr>
          <a:xfrm>
            <a:off x="6278727" y="1463040"/>
            <a:ext cx="5364327" cy="502920"/>
          </a:xfrm>
          <a:prstGeom prst="roundRect">
            <a:avLst/>
          </a:prstGeom>
          <a:solidFill>
            <a:srgbClr val="104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78727" y="1463040"/>
            <a:ext cx="5364327" cy="502920"/>
          </a:xfrm>
          <a:prstGeom prst="rect">
            <a:avLst/>
          </a:prstGeom>
          <a:noFill/>
        </p:spPr>
        <p:txBody>
          <a:bodyPr wrap="square" anchor="ctr" lIns="0" rIns="0" tIns="0" bIns="0">
            <a:spAutoFit/>
          </a:bodyPr>
          <a:lstStyle/>
          <a:p>
            <a:pPr algn="ctr">
              <a:lnSpc>
                <a:spcPct val="100000"/>
              </a:lnSpc>
              <a:spcAft>
                <a:spcPts val="400"/>
              </a:spcAft>
            </a:pPr>
            <a:r>
              <a:rPr sz="1500" b="1">
                <a:solidFill>
                  <a:srgbClr val="FFFFFF"/>
                </a:solidFill>
                <a:latin typeface="Calibri"/>
              </a:rPr>
              <a:t>What we tested / next</a:t>
            </a:r>
          </a:p>
        </p:txBody>
      </p:sp>
      <p:sp>
        <p:nvSpPr>
          <p:cNvPr id="12" name="TextBox 11"/>
          <p:cNvSpPr txBox="1"/>
          <p:nvPr/>
        </p:nvSpPr>
        <p:spPr>
          <a:xfrm>
            <a:off x="6415887" y="2194560"/>
            <a:ext cx="5090007" cy="2743200"/>
          </a:xfrm>
          <a:prstGeom prst="rect">
            <a:avLst/>
          </a:prstGeom>
          <a:noFill/>
        </p:spPr>
        <p:txBody>
          <a:bodyPr wrap="square" lIns="0" rIns="0" tIns="0" bIns="0">
            <a:spAutoFit/>
          </a:bodyPr>
          <a:lstStyle/>
          <a:p>
            <a:pPr>
              <a:lnSpc>
                <a:spcPct val="108000"/>
              </a:lnSpc>
              <a:spcAft>
                <a:spcPts val="700"/>
              </a:spcAft>
            </a:pPr>
            <a:r>
              <a:rPr sz="1350" b="1">
                <a:solidFill>
                  <a:srgbClr val="10495C"/>
                </a:solidFill>
                <a:latin typeface="Calibri"/>
              </a:rPr>
              <a:t>•  </a:t>
            </a:r>
            <a:r>
              <a:rPr sz="1350">
                <a:solidFill>
                  <a:srgbClr val="222A30"/>
                </a:solidFill>
                <a:latin typeface="Calibri"/>
              </a:rPr>
              <a:t>Labels are only about 90% accurate (auto-pulled from reports), so some are simply wrong.</a:t>
            </a:r>
          </a:p>
          <a:p>
            <a:pPr>
              <a:lnSpc>
                <a:spcPct val="108000"/>
              </a:lnSpc>
              <a:spcAft>
                <a:spcPts val="700"/>
              </a:spcAft>
            </a:pPr>
            <a:r>
              <a:rPr sz="1350" b="1">
                <a:solidFill>
                  <a:srgbClr val="10495C"/>
                </a:solidFill>
                <a:latin typeface="Calibri"/>
              </a:rPr>
              <a:t>•  </a:t>
            </a:r>
            <a:r>
              <a:rPr sz="1350">
                <a:solidFill>
                  <a:srgbClr val="222A30"/>
                </a:solidFill>
                <a:latin typeface="Calibri"/>
              </a:rPr>
              <a:t>We tried a patient-level split (no patient on both sides): AUC 0.67 vs 0.73, so random splitting was a bit optimistic.</a:t>
            </a:r>
          </a:p>
          <a:p>
            <a:pPr>
              <a:lnSpc>
                <a:spcPct val="108000"/>
              </a:lnSpc>
              <a:spcAft>
                <a:spcPts val="700"/>
              </a:spcAft>
            </a:pPr>
            <a:r>
              <a:rPr sz="1350" b="1">
                <a:solidFill>
                  <a:srgbClr val="10495C"/>
                </a:solidFill>
                <a:latin typeface="Calibri"/>
              </a:rPr>
              <a:t>•  </a:t>
            </a:r>
            <a:r>
              <a:rPr sz="1350">
                <a:solidFill>
                  <a:srgbClr val="222A30"/>
                </a:solidFill>
                <a:latin typeface="Calibri"/>
              </a:rPr>
              <a:t>We checked if more data helps: still rising slowly, so a little, but the bigger win is fine-tuning.</a:t>
            </a:r>
          </a:p>
          <a:p>
            <a:pPr>
              <a:lnSpc>
                <a:spcPct val="108000"/>
              </a:lnSpc>
              <a:spcAft>
                <a:spcPts val="700"/>
              </a:spcAft>
            </a:pPr>
            <a:r>
              <a:rPr sz="1350" b="1">
                <a:solidFill>
                  <a:srgbClr val="10495C"/>
                </a:solidFill>
                <a:latin typeface="Calibri"/>
              </a:rPr>
              <a:t>•  </a:t>
            </a:r>
            <a:r>
              <a:rPr sz="1350">
                <a:solidFill>
                  <a:srgbClr val="222A30"/>
                </a:solidFill>
                <a:latin typeface="Calibri"/>
              </a:rPr>
              <a:t>The deep-learning progression (CNN 0.64 -&gt; transfer 0.73 -&gt; fine-tuned 0.74) is the main story.</a:t>
            </a:r>
          </a:p>
        </p:txBody>
      </p:sp>
      <p:sp>
        <p:nvSpPr>
          <p:cNvPr id="13" name="Rounded Rectangle 12"/>
          <p:cNvSpPr/>
          <p:nvPr/>
        </p:nvSpPr>
        <p:spPr>
          <a:xfrm>
            <a:off x="548640" y="5257800"/>
            <a:ext cx="11094415" cy="868680"/>
          </a:xfrm>
          <a:prstGeom prst="roundRect">
            <a:avLst/>
          </a:prstGeom>
          <a:solidFill>
            <a:srgbClr val="EC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5257800"/>
            <a:ext cx="10545775" cy="868680"/>
          </a:xfrm>
          <a:prstGeom prst="rect">
            <a:avLst/>
          </a:prstGeom>
          <a:noFill/>
        </p:spPr>
        <p:txBody>
          <a:bodyPr wrap="square" anchor="ctr" lIns="0" rIns="0" tIns="0" bIns="0">
            <a:spAutoFit/>
          </a:bodyPr>
          <a:lstStyle/>
          <a:p>
            <a:pPr algn="l">
              <a:lnSpc>
                <a:spcPct val="105000"/>
              </a:lnSpc>
              <a:spcAft>
                <a:spcPts val="400"/>
              </a:spcAft>
            </a:pPr>
            <a:r>
              <a:rPr sz="1400" b="1">
                <a:solidFill>
                  <a:srgbClr val="10495C"/>
                </a:solidFill>
                <a:latin typeface="Calibri"/>
              </a:rPr>
              <a:t>How this compares:</a:t>
            </a:r>
            <a:r>
              <a:rPr sz="1400" b="0">
                <a:solidFill>
                  <a:srgbClr val="222A30"/>
                </a:solidFill>
                <a:latin typeface="Calibri"/>
              </a:rPr>
              <a:t>  the best published model (CheXNet) hits 0.7 to 0.85 AUC, but it’s fully trained on all 112,000</a:t>
            </a:r>
          </a:p>
          <a:p>
            <a:pPr algn="l">
              <a:lnSpc>
                <a:spcPct val="105000"/>
              </a:lnSpc>
              <a:spcAft>
                <a:spcPts val="400"/>
              </a:spcAft>
            </a:pPr>
            <a:r>
              <a:rPr sz="1400" b="0">
                <a:solidFill>
                  <a:srgbClr val="222A30"/>
                </a:solidFill>
                <a:latin typeface="Calibri"/>
              </a:rPr>
              <a:t>images with a GPU. Ours is a lighter, laptop-friendly version of the same idea, 0.73 frozen and 0.74 fine-tuned.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495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32720" cy="1280160"/>
          </a:xfrm>
          <a:prstGeom prst="rect">
            <a:avLst/>
          </a:prstGeom>
          <a:noFill/>
        </p:spPr>
        <p:txBody>
          <a:bodyPr wrap="square" anchor="t" lIns="0" rIns="0" tIns="0" bIns="0">
            <a:spAutoFit/>
          </a:bodyPr>
          <a:lstStyle/>
          <a:p>
            <a:pPr algn="l">
              <a:lnSpc>
                <a:spcPct val="100000"/>
              </a:lnSpc>
              <a:spcAft>
                <a:spcPts val="400"/>
              </a:spcAft>
            </a:pPr>
            <a:r>
              <a:rPr sz="4800" b="1">
                <a:solidFill>
                  <a:srgbClr val="FFFFFF"/>
                </a:solidFill>
                <a:latin typeface="Calibri"/>
              </a:rPr>
              <a:t>Thank you</a:t>
            </a:r>
          </a:p>
        </p:txBody>
      </p:sp>
      <p:sp>
        <p:nvSpPr>
          <p:cNvPr id="4" name="Rectangle 3"/>
          <p:cNvSpPr/>
          <p:nvPr/>
        </p:nvSpPr>
        <p:spPr>
          <a:xfrm>
            <a:off x="960120" y="3657600"/>
            <a:ext cx="2011680" cy="73152"/>
          </a:xfrm>
          <a:prstGeom prst="rect">
            <a:avLst/>
          </a:prstGeom>
          <a:solidFill>
            <a:srgbClr val="E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931920"/>
            <a:ext cx="10332720" cy="914400"/>
          </a:xfrm>
          <a:prstGeom prst="rect">
            <a:avLst/>
          </a:prstGeom>
          <a:noFill/>
        </p:spPr>
        <p:txBody>
          <a:bodyPr wrap="square" anchor="t" lIns="0" rIns="0" tIns="0" bIns="0">
            <a:spAutoFit/>
          </a:bodyPr>
          <a:lstStyle/>
          <a:p>
            <a:pPr algn="l">
              <a:lnSpc>
                <a:spcPct val="100000"/>
              </a:lnSpc>
              <a:spcAft>
                <a:spcPts val="400"/>
              </a:spcAft>
            </a:pPr>
            <a:r>
              <a:rPr sz="2200" b="0">
                <a:solidFill>
                  <a:srgbClr val="CFE0E4"/>
                </a:solidFill>
                <a:latin typeface="Calibri"/>
              </a:rPr>
              <a:t>Questions?</a:t>
            </a:r>
          </a:p>
        </p:txBody>
      </p:sp>
      <p:sp>
        <p:nvSpPr>
          <p:cNvPr id="6" name="TextBox 5"/>
          <p:cNvSpPr txBox="1"/>
          <p:nvPr/>
        </p:nvSpPr>
        <p:spPr>
          <a:xfrm>
            <a:off x="914400" y="5852160"/>
            <a:ext cx="10332720" cy="548640"/>
          </a:xfrm>
          <a:prstGeom prst="rect">
            <a:avLst/>
          </a:prstGeom>
          <a:noFill/>
        </p:spPr>
        <p:txBody>
          <a:bodyPr wrap="square" anchor="t" lIns="0" rIns="0" tIns="0" bIns="0">
            <a:spAutoFit/>
          </a:bodyPr>
          <a:lstStyle/>
          <a:p>
            <a:pPr algn="l">
              <a:lnSpc>
                <a:spcPct val="100000"/>
              </a:lnSpc>
              <a:spcAft>
                <a:spcPts val="400"/>
              </a:spcAft>
            </a:pPr>
            <a:r>
              <a:rPr sz="1300" b="0">
                <a:solidFill>
                  <a:srgbClr val="CFE0E4"/>
                </a:solidFill>
                <a:latin typeface="Calibri"/>
              </a:rPr>
              <a:t>Chest X-ray multi-label classifier  ·  NIH ChestX-ray14  ·  MSBA 645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